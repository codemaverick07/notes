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5.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6.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7.xml" ContentType="application/vnd.openxmlformats-officedocument.drawingml.chart+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6d0e140113475e" /><Relationship Type="http://schemas.openxmlformats.org/officeDocument/2006/relationships/extended-properties" Target="/docProps/app.xml" Id="R367d3794041e479e" /><Relationship Type="http://schemas.openxmlformats.org/officeDocument/2006/relationships/officeDocument" Target="/ppt/presentation.xml" Id="Rfdc14df697cf46ff" /></Relationships>
</file>

<file path=ppt/presentation.xml><?xml version="1.0" encoding="utf-8"?>
<p:presentation xmlns:p="http://schemas.openxmlformats.org/presentationml/2006/main">
  <p:sldMasterIdLst>
    <p:sldMasterId xmlns:r="http://schemas.openxmlformats.org/officeDocument/2006/relationships" id="2147483648" r:id="R5fa36b21d8cb4dc2"/>
  </p:sldMasterIdLst>
  <p:notesMasterIdLst>
    <p:notesMasterId xmlns:r="http://schemas.openxmlformats.org/officeDocument/2006/relationships" r:id="R3805417752df4a69"/>
  </p:notesMasterIdLst>
  <p:sldIdLst>
    <p:sldId xmlns:r="http://schemas.openxmlformats.org/officeDocument/2006/relationships" id="256" r:id="R1a409ca3efe94a72"/>
    <p:sldId xmlns:r="http://schemas.openxmlformats.org/officeDocument/2006/relationships" id="257" r:id="R6ff2deab127946d3"/>
    <p:sldId xmlns:r="http://schemas.openxmlformats.org/officeDocument/2006/relationships" id="258" r:id="R6bec63c1af96493a"/>
    <p:sldId xmlns:r="http://schemas.openxmlformats.org/officeDocument/2006/relationships" id="259" r:id="R339d549e49144e57"/>
    <p:sldId xmlns:r="http://schemas.openxmlformats.org/officeDocument/2006/relationships" id="260" r:id="Ra73e1c0641f347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4bbba52892494b" /><Relationship Type="http://schemas.openxmlformats.org/officeDocument/2006/relationships/slideMaster" Target="/ppt/slideMasters/slideMaster1.xml" Id="R5fa36b21d8cb4dc2" /><Relationship Type="http://schemas.openxmlformats.org/officeDocument/2006/relationships/notesMaster" Target="/ppt/notesMasters/notesMaster1.xml" Id="R3805417752df4a69" /><Relationship Type="http://schemas.openxmlformats.org/officeDocument/2006/relationships/presProps" Target="/ppt/presProps.xml" Id="R35bc569076d54f8b" /><Relationship Type="http://schemas.openxmlformats.org/officeDocument/2006/relationships/tableStyles" Target="/ppt/tableStyles.xml" Id="R488e970fa3f44014" /><Relationship Type="http://schemas.openxmlformats.org/officeDocument/2006/relationships/slide" Target="/ppt/slides/slide1.xml" Id="R1a409ca3efe94a72" /><Relationship Type="http://schemas.openxmlformats.org/officeDocument/2006/relationships/slide" Target="/ppt/slides/slide2.xml" Id="R6ff2deab127946d3" /><Relationship Type="http://schemas.openxmlformats.org/officeDocument/2006/relationships/slide" Target="/ppt/slides/slide3.xml" Id="R6bec63c1af96493a" /><Relationship Type="http://schemas.openxmlformats.org/officeDocument/2006/relationships/slide" Target="/ppt/slides/slide4.xml" Id="R339d549e49144e57" /><Relationship Type="http://schemas.openxmlformats.org/officeDocument/2006/relationships/slide" Target="/ppt/slides/slide5.xml" Id="Ra73e1c0641f347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0960a4013649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e88478d8ed4cc2" /><Relationship Type="http://schemas.openxmlformats.org/officeDocument/2006/relationships/notesMaster" Target="/ppt/notesMasters/notesMaster1.xml" Id="R5b8943151a4544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c6f1f5599447c0" /><Relationship Type="http://schemas.openxmlformats.org/officeDocument/2006/relationships/notesMaster" Target="/ppt/notesMasters/notesMaster1.xml" Id="R697c127ab06e4d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04a7db7b5b4d18" /><Relationship Type="http://schemas.openxmlformats.org/officeDocument/2006/relationships/notesMaster" Target="/ppt/notesMasters/notesMaster1.xml" Id="R023beb5eb74240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15466bc38d4b81" /><Relationship Type="http://schemas.openxmlformats.org/officeDocument/2006/relationships/notesMaster" Target="/ppt/notesMasters/notesMaster1.xml" Id="R8076a6389a3b47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2b78179d1a462c" /><Relationship Type="http://schemas.openxmlformats.org/officeDocument/2006/relationships/notesMaster" Target="/ppt/notesMasters/notesMaster1.xml" Id="Reaf184dab26f4d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training case. Historical values and forecast assumptions are illustrative and supplied in the source finance deck. Forecast periods are estimates, and stream-level splits, gross margin allocations, contract timing, customer savings, and fundraising assumptions should be treated as case assumptions rather than verified company guidance.</a:t>
            </a:r>
          </a:p>
          <a:p xmlns:a="http://schemas.openxmlformats.org/drawingml/2006/main">
            <a:r>
              <a:t>Revenue is recognised revenue, split between services and Cordata. Average revenue per customer is total revenue divided by year-end customers and is shown in ₹ lakh.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training case. Historical values and forecast assumptions are illustrative and supplied in the source finance deck. Forecast periods are estimates, and stream-level splits, gross margin allocations, contract timing, customer savings, and fundraising assumptions should be treated as case assumptions rather than verified company guidance.</a:t>
            </a:r>
          </a:p>
          <a:p xmlns:a="http://schemas.openxmlformats.org/drawingml/2006/main">
            <a:r>
              <a:t>Exit ARR is an annualised run rate at year end. It must not be added to recognised revenue. The stream gross margins are allocated assumptions used to calculate blended gross margin.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training case. Historical values and forecast assumptions are illustrative and supplied in the source finance deck. Forecast periods are estimates, and stream-level splits, gross margin allocations, contract timing, customer savings, and fundraising assumptions should be treated as case assumptions rather than verified company guidance.</a:t>
            </a:r>
          </a:p>
          <a:p xmlns:a="http://schemas.openxmlformats.org/drawingml/2006/main">
            <a:r>
              <a:t>The case example is attributed in the source material to engagement records, but the figures are not independently audited here. Year-one spend compares consulting and subscription fees with one year of savings. The payback estimate assumes savings arrive evenly through the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training case. Historical values and forecast assumptions are illustrative and supplied in the source finance deck. Forecast periods are estimates, and stream-level splits, gross margin allocations, contract timing, customer savings, and fundraising assumptions should be treated as case assumptions rather than verified company guidance.</a:t>
            </a:r>
          </a:p>
          <a:p xmlns:a="http://schemas.openxmlformats.org/drawingml/2006/main">
            <a:r>
              <a:t>The bridge aggregates forecast churn, expansion, new-logo revenue, PSU revenue and overseas revenue across CY26E–CY28E. Operating-driver values are placeholders from the classroom model. Contract value and backlog should not be treated as same-period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Classroom training case. Historical values and forecast assumptions are illustrative and supplied in the source finance deck. Forecast periods are estimates, and stream-level splits, gross margin allocations, contract timing, customer savings, and fundraising assumptions should be treated as case assumptions rather than verified company guidance.</a:t>
            </a:r>
          </a:p>
          <a:p xmlns:a="http://schemas.openxmlformats.org/drawingml/2006/main">
            <a:r>
              <a:t>The runway estimate uses current cash plus the planned raise, less the working-capital reserve, divided by planned monthly deployment. The use-of-funds categories sum to ₹25 Cr. The qualified pipeline line is a target implied by a 3× coverage assumption, not evidence that the pipeline currently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fed1f67ead4e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3780edb7a047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b78f887a9b40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a7928390e649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3ff24fdbb149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146f2acb3a4d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DAE14A-1ED6-4253-9FC8-6C31CEC4C9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60A0C8-9688-4E68-BE79-A6769429EF1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CA829E-B1F5-447D-A41B-4DCBD36058A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7823D8-046E-4CF0-AEEA-AB9B6C3C3B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E7D10C-C8B0-4FE9-A143-3D9115F03D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C69F26-2A6B-430A-8E2D-DE345CCD60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B6E944-98F3-4069-8A8C-473917353C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62D8B1-E4D7-41CA-B909-E2B69192F7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7D54E4-C33E-4E9F-B74F-44ECE43859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58C7A0-576B-4B91-9A5A-E2A7C80200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6f5663790c4222" /><Relationship Type="http://schemas.openxmlformats.org/officeDocument/2006/relationships/slideLayout" Target="/ppt/slideLayouts/slideLayout1.xml" Id="R946843c86deb4c5d" /><Relationship Type="http://schemas.openxmlformats.org/officeDocument/2006/relationships/slideLayout" Target="/ppt/slideLayouts/slideLayout2.xml" Id="R999460c183a0400d" /><Relationship Type="http://schemas.openxmlformats.org/officeDocument/2006/relationships/slideLayout" Target="/ppt/slideLayouts/slideLayout3.xml" Id="R41d377894c9e4aed" /><Relationship Type="http://schemas.openxmlformats.org/officeDocument/2006/relationships/slideLayout" Target="/ppt/slideLayouts/slideLayout4.xml" Id="R15d160dd8b0749a5" /><Relationship Type="http://schemas.openxmlformats.org/officeDocument/2006/relationships/slideLayout" Target="/ppt/slideLayouts/slideLayout5.xml" Id="Rcca4c43e12c749ee" /><Relationship Type="http://schemas.openxmlformats.org/officeDocument/2006/relationships/slideLayout" Target="/ppt/slideLayouts/slideLayout6.xml" Id="R74e5666a0ae44c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6843c86deb4c5d"/>
    <p:sldLayoutId xmlns:r="http://schemas.openxmlformats.org/officeDocument/2006/relationships" id="2147483650" r:id="R999460c183a0400d"/>
    <p:sldLayoutId xmlns:r="http://schemas.openxmlformats.org/officeDocument/2006/relationships" id="2147483651" r:id="R41d377894c9e4aed"/>
    <p:sldLayoutId xmlns:r="http://schemas.openxmlformats.org/officeDocument/2006/relationships" id="2147483652" r:id="R15d160dd8b0749a5"/>
    <p:sldLayoutId xmlns:r="http://schemas.openxmlformats.org/officeDocument/2006/relationships" id="2147483653" r:id="Rcca4c43e12c749ee"/>
    <p:sldLayoutId xmlns:r="http://schemas.openxmlformats.org/officeDocument/2006/relationships" id="2147483654" r:id="R74e5666a0ae44c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7841514e124e9d" /><Relationship Type="http://schemas.openxmlformats.org/officeDocument/2006/relationships/chart" Target="/ppt/slides/charts/chart1.xml" Id="R1491ed688bde4d68" /><Relationship Type="http://schemas.openxmlformats.org/officeDocument/2006/relationships/chart" Target="/ppt/slides/charts/chart2.xml" Id="R6698aabb7ee24f8a" /><Relationship Type="http://schemas.openxmlformats.org/officeDocument/2006/relationships/notesSlide" Target="/ppt/notesSlides/notesSlide1.xml" Id="R90c8aa34881e49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eccc170d34413b" /><Relationship Type="http://schemas.openxmlformats.org/officeDocument/2006/relationships/chart" Target="/ppt/slides/charts/chart3.xml" Id="R115c8e9b8d934f9d" /><Relationship Type="http://schemas.openxmlformats.org/officeDocument/2006/relationships/chart" Target="/ppt/slides/charts/chart4.xml" Id="R3f4ba07eb088405c" /><Relationship Type="http://schemas.openxmlformats.org/officeDocument/2006/relationships/notesSlide" Target="/ppt/notesSlides/notesSlide2.xml" Id="R3f737f5cdce04f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a2770e84064888" /><Relationship Type="http://schemas.openxmlformats.org/officeDocument/2006/relationships/chart" Target="/ppt/slides/charts/chart5.xml" Id="R06d3ed900ff2435e" /><Relationship Type="http://schemas.openxmlformats.org/officeDocument/2006/relationships/notesSlide" Target="/ppt/notesSlides/notesSlide3.xml" Id="Rb4b013b90dfc4e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b6f75032734448" /><Relationship Type="http://schemas.openxmlformats.org/officeDocument/2006/relationships/chart" Target="/ppt/slides/charts/chart6.xml" Id="R71d54bd445ee4fbc" /><Relationship Type="http://schemas.openxmlformats.org/officeDocument/2006/relationships/notesSlide" Target="/ppt/notesSlides/notesSlide4.xml" Id="Rb657cbf053eb42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cf5d7c945c4b41" /><Relationship Type="http://schemas.openxmlformats.org/officeDocument/2006/relationships/chart" Target="/ppt/slides/charts/chart7.xml" Id="R42a9a91986924ea2" /><Relationship Type="http://schemas.openxmlformats.org/officeDocument/2006/relationships/notesSlide" Target="/ppt/notesSlides/notesSlide5.xml" Id="R6bb26a3fd64146b6" /></Relationships>
</file>

<file path=ppt/slides/charts/chart1.xml><?xml version="1.0" encoding="utf-8"?>
<c:chartSpace xmlns:c="http://schemas.openxmlformats.org/drawingml/2006/chart">
  <c:lang val="en-US"/>
  <c:chart>
    <c:plotArea>
      <c:barChart>
        <c:barDir val="col"/>
        <c:grouping val="stacked"/>
        <c:varyColors val="0"/>
        <c:ser>
          <c:idx val="0"/>
          <c:order val="0"/>
          <c:tx>
            <c:v>Services</c:v>
          </c:tx>
          <c:spPr>
            <a:solidFill xmlns:a="http://schemas.openxmlformats.org/drawingml/2006/main">
              <a:srgbClr val="94A3B8"/>
            </a:solidFill>
          </c:spPr>
          <c:invertIfNegative val="0"/>
          <c:cat>
            <c:strLit>
              <c:ptCount val="4"/>
              <c:pt idx="0">
                <c:v>CY22H</c:v>
              </c:pt>
              <c:pt idx="1">
                <c:v>CY23H</c:v>
              </c:pt>
              <c:pt idx="2">
                <c:v>CY24H</c:v>
              </c:pt>
              <c:pt idx="3">
                <c:v>CY25H</c:v>
              </c:pt>
            </c:strLit>
          </c:cat>
          <c:val>
            <c:numLit>
              <c:formatCode>General</c:formatCode>
              <c:ptCount val="4"/>
              <c:pt idx="0">
                <c:v>0.4</c:v>
              </c:pt>
              <c:pt idx="1">
                <c:v>1.92</c:v>
              </c:pt>
              <c:pt idx="2">
                <c:v>7.7</c:v>
              </c:pt>
              <c:pt idx="3">
                <c:v>20.8</c:v>
              </c:pt>
            </c:numLit>
          </c:val>
        </c:ser>
        <c:ser>
          <c:idx val="1"/>
          <c:order val="1"/>
          <c:tx>
            <c:v>Cordata recognised</c:v>
          </c:tx>
          <c:spPr>
            <a:solidFill xmlns:a="http://schemas.openxmlformats.org/drawingml/2006/main">
              <a:srgbClr val="0D9488"/>
            </a:solidFill>
          </c:spPr>
          <c:invertIfNegative val="0"/>
          <c:cat>
            <c:strLit>
              <c:ptCount val="4"/>
              <c:pt idx="0">
                <c:v>CY22H</c:v>
              </c:pt>
              <c:pt idx="1">
                <c:v>CY23H</c:v>
              </c:pt>
              <c:pt idx="2">
                <c:v>CY24H</c:v>
              </c:pt>
              <c:pt idx="3">
                <c:v>CY25H</c:v>
              </c:pt>
            </c:strLit>
          </c:cat>
          <c:val>
            <c:numLit>
              <c:formatCode>General</c:formatCode>
              <c:ptCount val="4"/>
              <c:pt idx="0">
                <c:v>0.04</c:v>
              </c:pt>
              <c:pt idx="1">
                <c:v>0.48</c:v>
              </c:pt>
              <c:pt idx="2">
                <c:v>3.3</c:v>
              </c:pt>
              <c:pt idx="3">
                <c:v>11.2</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4748B"/>
                    </a:solidFill>
                    <a:latin typeface="Arial"/>
                    <a:ea typeface="Arial"/>
                    <a:cs typeface="Arial"/>
                  </a:rPr>
                  <a:t>₹ Cr</a:t>
                </a:r>
              </a:p>
            </c:rich>
          </c:tx>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Customers, year end</c:v>
          </c:tx>
          <c:spPr>
            <a:solidFill xmlns:a="http://schemas.openxmlformats.org/drawingml/2006/main">
              <a:srgbClr val="0D9488"/>
            </a:solidFill>
          </c:spPr>
          <c:invertIfNegative val="0"/>
          <c:dLbls>
            <c:numFmt formatCode="0" sourceLinked="0"/>
            <c:txPr>
              <a:bodyPr xmlns:a="http://schemas.openxmlformats.org/drawingml/2006/main" anchorCtr="1"/>
              <a:lstStyle xmlns:a="http://schemas.openxmlformats.org/drawingml/2006/main"/>
              <a:p xmlns:a="http://schemas.openxmlformats.org/drawingml/2006/main">
                <a:pPr>
                  <a:defRPr sz="900" b="1">
                    <a:solidFill>
                      <a:srgbClr val="0F172A"/>
                    </a:solidFill>
                    <a:latin typeface="Arial"/>
                    <a:ea typeface="Arial"/>
                    <a:cs typeface="Arial"/>
                  </a:defRPr>
                </a:pPr>
              </a:p>
            </c:txPr>
            <c:dLblPos val="outEnd"/>
            <c:showLegendKey val="0"/>
            <c:showVal val="1"/>
            <c:showCatName val="0"/>
            <c:showSerName val="0"/>
            <c:showPercent val="0"/>
            <c:showBubbleSize val="0"/>
            <c:showLeaderLines val="0"/>
          </c:dLbls>
          <c:cat>
            <c:strLit>
              <c:ptCount val="4"/>
              <c:pt idx="0">
                <c:v>CY22H</c:v>
              </c:pt>
              <c:pt idx="1">
                <c:v>CY23H</c:v>
              </c:pt>
              <c:pt idx="2">
                <c:v>CY24H</c:v>
              </c:pt>
              <c:pt idx="3">
                <c:v>CY25H</c:v>
              </c:pt>
            </c:strLit>
          </c:cat>
          <c:val>
            <c:numLit>
              <c:formatCode>General</c:formatCode>
              <c:ptCount val="4"/>
              <c:pt idx="0">
                <c:v>4</c:v>
              </c:pt>
              <c:pt idx="1">
                <c:v>15</c:v>
              </c:pt>
              <c:pt idx="2">
                <c:v>45</c:v>
              </c:pt>
              <c:pt idx="3">
                <c:v>120</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72768"/>
      </c:catAx>
      <c:valAx>
        <c:axId val="48672768"/>
        <c:scaling>
          <c:orientation val="minMax"/>
          <c:max val="140"/>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4748B"/>
                    </a:solidFill>
                    <a:latin typeface="Arial"/>
                    <a:ea typeface="Arial"/>
                    <a:cs typeface="Arial"/>
                  </a:rPr>
                  <a:t>Customers</a:t>
                </a:r>
              </a:p>
            </c:rich>
          </c:tx>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50112"/>
        <c:crossBetween val="between"/>
        <c:majorUnit val="35"/>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percentStacked"/>
        <c:varyColors val="0"/>
        <c:ser>
          <c:idx val="0"/>
          <c:order val="0"/>
          <c:tx>
            <c:v>Services</c:v>
          </c:tx>
          <c:spPr>
            <a:solidFill xmlns:a="http://schemas.openxmlformats.org/drawingml/2006/main">
              <a:srgbClr val="94A3B8"/>
            </a:solidFill>
          </c:spPr>
          <c:invertIfNegative val="0"/>
          <c:cat>
            <c:strLit>
              <c:ptCount val="4"/>
              <c:pt idx="0">
                <c:v>CY22H</c:v>
              </c:pt>
              <c:pt idx="1">
                <c:v>CY23H</c:v>
              </c:pt>
              <c:pt idx="2">
                <c:v>CY24H</c:v>
              </c:pt>
              <c:pt idx="3">
                <c:v>CY25H</c:v>
              </c:pt>
            </c:strLit>
          </c:cat>
          <c:val>
            <c:numLit>
              <c:formatCode>0%</c:formatCode>
              <c:ptCount val="4"/>
              <c:pt idx="0">
                <c:v>91</c:v>
              </c:pt>
              <c:pt idx="1">
                <c:v>80</c:v>
              </c:pt>
              <c:pt idx="2">
                <c:v>70</c:v>
              </c:pt>
              <c:pt idx="3">
                <c:v>65</c:v>
              </c:pt>
            </c:numLit>
          </c:val>
        </c:ser>
        <c:ser>
          <c:idx val="1"/>
          <c:order val="1"/>
          <c:tx>
            <c:v>Cordata</c:v>
          </c:tx>
          <c:spPr>
            <a:solidFill xmlns:a="http://schemas.openxmlformats.org/drawingml/2006/main">
              <a:srgbClr val="0D9488"/>
            </a:solidFill>
          </c:spPr>
          <c:invertIfNegative val="0"/>
          <c:cat>
            <c:strLit>
              <c:ptCount val="4"/>
              <c:pt idx="0">
                <c:v>CY22H</c:v>
              </c:pt>
              <c:pt idx="1">
                <c:v>CY23H</c:v>
              </c:pt>
              <c:pt idx="2">
                <c:v>CY24H</c:v>
              </c:pt>
              <c:pt idx="3">
                <c:v>CY25H</c:v>
              </c:pt>
            </c:strLit>
          </c:cat>
          <c:val>
            <c:numLit>
              <c:formatCode>0%</c:formatCode>
              <c:ptCount val="4"/>
              <c:pt idx="0">
                <c:v>9</c:v>
              </c:pt>
              <c:pt idx="1">
                <c:v>20</c:v>
              </c:pt>
              <c:pt idx="2">
                <c:v>30</c:v>
              </c:pt>
              <c:pt idx="3">
                <c:v>35</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4748B"/>
                    </a:solidFill>
                    <a:latin typeface="Arial"/>
                    <a:ea typeface="Arial"/>
                    <a:cs typeface="Arial"/>
                  </a:rPr>
                  <a:t>% of recognised revenue</a:t>
                </a:r>
              </a:p>
            </c:rich>
          </c:tx>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Recognised revenue</c:v>
          </c:tx>
          <c:spPr>
            <a:solidFill xmlns:a="http://schemas.openxmlformats.org/drawingml/2006/main">
              <a:srgbClr val="0D9488"/>
            </a:solidFill>
          </c:spPr>
          <c:invertIfNegative val="0"/>
          <c:cat>
            <c:strLit>
              <c:ptCount val="4"/>
              <c:pt idx="0">
                <c:v>CY22H</c:v>
              </c:pt>
              <c:pt idx="1">
                <c:v>CY23H</c:v>
              </c:pt>
              <c:pt idx="2">
                <c:v>CY24H</c:v>
              </c:pt>
              <c:pt idx="3">
                <c:v>CY25H</c:v>
              </c:pt>
            </c:strLit>
          </c:cat>
          <c:val>
            <c:numLit>
              <c:formatCode>0</c:formatCode>
              <c:ptCount val="4"/>
              <c:pt idx="0">
                <c:v>0.04</c:v>
              </c:pt>
              <c:pt idx="1">
                <c:v>0.48</c:v>
              </c:pt>
              <c:pt idx="2">
                <c:v>3.3</c:v>
              </c:pt>
              <c:pt idx="3">
                <c:v>11.2</c:v>
              </c:pt>
            </c:numLit>
          </c:val>
        </c:ser>
        <c:ser>
          <c:idx val="1"/>
          <c:order val="1"/>
          <c:tx>
            <c:v>Exit ARR</c:v>
          </c:tx>
          <c:spPr>
            <a:solidFill xmlns:a="http://schemas.openxmlformats.org/drawingml/2006/main">
              <a:srgbClr val="5EEAD4"/>
            </a:solidFill>
          </c:spPr>
          <c:invertIfNegative val="0"/>
          <c:cat>
            <c:strLit>
              <c:ptCount val="4"/>
              <c:pt idx="0">
                <c:v>CY22H</c:v>
              </c:pt>
              <c:pt idx="1">
                <c:v>CY23H</c:v>
              </c:pt>
              <c:pt idx="2">
                <c:v>CY24H</c:v>
              </c:pt>
              <c:pt idx="3">
                <c:v>CY25H</c:v>
              </c:pt>
            </c:strLit>
          </c:cat>
          <c:val>
            <c:numLit>
              <c:formatCode>0</c:formatCode>
              <c:ptCount val="4"/>
              <c:pt idx="0">
                <c:v>0.1</c:v>
              </c:pt>
              <c:pt idx="1">
                <c:v>0.8</c:v>
              </c:pt>
              <c:pt idx="2">
                <c:v>5</c:v>
              </c:pt>
              <c:pt idx="3">
                <c:v>15</c:v>
              </c:pt>
            </c:numLit>
          </c:val>
        </c:ser>
        <c:dLbls>
          <c:numFmt formatCode="0.00" sourceLinked="0"/>
          <c:txPr>
            <a:bodyPr xmlns:a="http://schemas.openxmlformats.org/drawingml/2006/main" anchorCtr="1"/>
            <a:lstStyle xmlns:a="http://schemas.openxmlformats.org/drawingml/2006/main"/>
            <a:p xmlns:a="http://schemas.openxmlformats.org/drawingml/2006/main">
              <a:pPr>
                <a:defRPr sz="825">
                  <a:solidFill>
                    <a:srgbClr val="0F172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72768"/>
      </c:catAx>
      <c:valAx>
        <c:axId val="48672768"/>
        <c:scaling>
          <c:orientation val="minMax"/>
          <c:max val="17"/>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4748B"/>
                    </a:solidFill>
                    <a:latin typeface="Arial"/>
                    <a:ea typeface="Arial"/>
                    <a:cs typeface="Arial"/>
                  </a:rPr>
                  <a:t>₹ Cr</a:t>
                </a:r>
              </a:p>
            </c:rich>
          </c:tx>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50112"/>
        <c:crossBetween val="between"/>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 lakh</c:v>
          </c:tx>
          <c:spPr>
            <a:solidFill xmlns:a="http://schemas.openxmlformats.org/drawingml/2006/main">
              <a:srgbClr val="0D9488"/>
            </a:solidFill>
          </c:spPr>
          <c:invertIfNegative val="0"/>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0F172A"/>
                    </a:solidFill>
                    <a:latin typeface="Arial"/>
                    <a:ea typeface="Arial"/>
                    <a:cs typeface="Arial"/>
                  </a:defRPr>
                </a:pPr>
              </a:p>
            </c:txPr>
            <c:dLblPos val="outEnd"/>
            <c:showLegendKey val="0"/>
            <c:showVal val="1"/>
            <c:showCatName val="0"/>
            <c:showSerName val="0"/>
            <c:showPercent val="0"/>
            <c:showBubbleSize val="0"/>
            <c:showLeaderLines val="0"/>
          </c:dLbls>
          <c:cat>
            <c:strLit>
              <c:ptCount val="3"/>
              <c:pt idx="0">
                <c:v>Year-one spend</c:v>
              </c:pt>
              <c:pt idx="1">
                <c:v>Annual subscription</c:v>
              </c:pt>
              <c:pt idx="2">
                <c:v>Annual savings</c:v>
              </c:pt>
            </c:strLit>
          </c:cat>
          <c:val>
            <c:numLit>
              <c:formatCode>General</c:formatCode>
              <c:ptCount val="3"/>
              <c:pt idx="0">
                <c:v>18</c:v>
              </c:pt>
              <c:pt idx="1">
                <c:v>6</c:v>
              </c:pt>
              <c:pt idx="2">
                <c:v>32</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64748B"/>
                    </a:solidFill>
                    <a:latin typeface="Arial"/>
                    <a:ea typeface="Arial"/>
                    <a:cs typeface="Arial"/>
                  </a:rPr>
                  <a:t>₹ lakh</a:t>
                </a:r>
              </a:p>
            </c:rich>
          </c:tx>
          <c:overlay val="0"/>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latin typeface="Arial"/>
                <a:ea typeface="Arial"/>
                <a:cs typeface="Aria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stacked"/>
        <c:varyColors val="0"/>
        <c:ser>
          <c:idx val="0"/>
          <c:order val="0"/>
          <c:tx>
            <c:v>Base</c:v>
          </c:tx>
          <c:spPr>
            <a:solidFill xmlns:a="http://schemas.openxmlformats.org/drawingml/2006/main">
              <a:srgbClr val="FFFFFF"/>
            </a:solidFill>
          </c:spPr>
          <c:invertIfNegative val="0"/>
          <c:cat>
            <c:strLit>
              <c:ptCount val="7"/>
              <c:pt idx="0">
                <c:v>CY25H</c:v>
              </c:pt>
              <c:pt idx="1">
                <c:v>Churn</c:v>
              </c:pt>
              <c:pt idx="2">
                <c:v>Expansion</c:v>
              </c:pt>
              <c:pt idx="3">
                <c:v>New logos</c:v>
              </c:pt>
              <c:pt idx="4">
                <c:v>PSU</c:v>
              </c:pt>
              <c:pt idx="5">
                <c:v>Overseas</c:v>
              </c:pt>
              <c:pt idx="6">
                <c:v>CY28E</c:v>
              </c:pt>
            </c:strLit>
          </c:cat>
          <c:val>
            <c:numLit>
              <c:formatCode>0</c:formatCode>
              <c:ptCount val="7"/>
              <c:pt idx="0">
                <c:v>0</c:v>
              </c:pt>
              <c:pt idx="1">
                <c:v>20.52464</c:v>
              </c:pt>
              <c:pt idx="2">
                <c:v>20.52464</c:v>
              </c:pt>
              <c:pt idx="3">
                <c:v>54.29584</c:v>
              </c:pt>
              <c:pt idx="4">
                <c:v>126.04584</c:v>
              </c:pt>
              <c:pt idx="5">
                <c:v>141.04584</c:v>
              </c:pt>
              <c:pt idx="6">
                <c:v>0</c:v>
              </c:pt>
            </c:numLit>
          </c:val>
        </c:ser>
        <c:ser>
          <c:idx val="1"/>
          <c:order val="1"/>
          <c:tx>
            <c:v>Total</c:v>
          </c:tx>
          <c:spPr>
            <a:solidFill xmlns:a="http://schemas.openxmlformats.org/drawingml/2006/main">
              <a:srgbClr val="0F172A"/>
            </a:solidFill>
          </c:spPr>
          <c:invertIfNegative val="0"/>
          <c:cat>
            <c:strLit>
              <c:ptCount val="7"/>
              <c:pt idx="0">
                <c:v>CY25H</c:v>
              </c:pt>
              <c:pt idx="1">
                <c:v>Churn</c:v>
              </c:pt>
              <c:pt idx="2">
                <c:v>Expansion</c:v>
              </c:pt>
              <c:pt idx="3">
                <c:v>New logos</c:v>
              </c:pt>
              <c:pt idx="4">
                <c:v>PSU</c:v>
              </c:pt>
              <c:pt idx="5">
                <c:v>Overseas</c:v>
              </c:pt>
              <c:pt idx="6">
                <c:v>CY28E</c:v>
              </c:pt>
            </c:strLit>
          </c:cat>
          <c:val>
            <c:numLit>
              <c:formatCode>0</c:formatCode>
              <c:ptCount val="7"/>
              <c:pt idx="0">
                <c:v>32</c:v>
              </c:pt>
              <c:pt idx="1">
                <c:v>0</c:v>
              </c:pt>
              <c:pt idx="2">
                <c:v>0</c:v>
              </c:pt>
              <c:pt idx="3">
                <c:v>0</c:v>
              </c:pt>
              <c:pt idx="4">
                <c:v>0</c:v>
              </c:pt>
              <c:pt idx="5">
                <c:v>0</c:v>
              </c:pt>
              <c:pt idx="6">
                <c:v>147.04584</c:v>
              </c:pt>
            </c:numLit>
          </c:val>
        </c:ser>
        <c:ser>
          <c:idx val="2"/>
          <c:order val="2"/>
          <c:tx>
            <c:v>Decrease</c:v>
          </c:tx>
          <c:spPr>
            <a:solidFill xmlns:a="http://schemas.openxmlformats.org/drawingml/2006/main">
              <a:srgbClr val="E11D48"/>
            </a:solidFill>
          </c:spPr>
          <c:invertIfNegative val="0"/>
          <c:cat>
            <c:strLit>
              <c:ptCount val="7"/>
              <c:pt idx="0">
                <c:v>CY25H</c:v>
              </c:pt>
              <c:pt idx="1">
                <c:v>Churn</c:v>
              </c:pt>
              <c:pt idx="2">
                <c:v>Expansion</c:v>
              </c:pt>
              <c:pt idx="3">
                <c:v>New logos</c:v>
              </c:pt>
              <c:pt idx="4">
                <c:v>PSU</c:v>
              </c:pt>
              <c:pt idx="5">
                <c:v>Overseas</c:v>
              </c:pt>
              <c:pt idx="6">
                <c:v>CY28E</c:v>
              </c:pt>
            </c:strLit>
          </c:cat>
          <c:val>
            <c:numLit>
              <c:formatCode>0</c:formatCode>
              <c:ptCount val="7"/>
              <c:pt idx="0">
                <c:v>0</c:v>
              </c:pt>
              <c:pt idx="1">
                <c:v>11.47536</c:v>
              </c:pt>
              <c:pt idx="2">
                <c:v>0</c:v>
              </c:pt>
              <c:pt idx="3">
                <c:v>0</c:v>
              </c:pt>
              <c:pt idx="4">
                <c:v>0</c:v>
              </c:pt>
              <c:pt idx="5">
                <c:v>0</c:v>
              </c:pt>
              <c:pt idx="6">
                <c:v>0</c:v>
              </c:pt>
            </c:numLit>
          </c:val>
        </c:ser>
        <c:ser>
          <c:idx val="3"/>
          <c:order val="3"/>
          <c:tx>
            <c:v>Increase</c:v>
          </c:tx>
          <c:spPr>
            <a:solidFill xmlns:a="http://schemas.openxmlformats.org/drawingml/2006/main">
              <a:srgbClr val="0D9488"/>
            </a:solidFill>
          </c:spPr>
          <c:invertIfNegative val="0"/>
          <c:cat>
            <c:strLit>
              <c:ptCount val="7"/>
              <c:pt idx="0">
                <c:v>CY25H</c:v>
              </c:pt>
              <c:pt idx="1">
                <c:v>Churn</c:v>
              </c:pt>
              <c:pt idx="2">
                <c:v>Expansion</c:v>
              </c:pt>
              <c:pt idx="3">
                <c:v>New logos</c:v>
              </c:pt>
              <c:pt idx="4">
                <c:v>PSU</c:v>
              </c:pt>
              <c:pt idx="5">
                <c:v>Overseas</c:v>
              </c:pt>
              <c:pt idx="6">
                <c:v>CY28E</c:v>
              </c:pt>
            </c:strLit>
          </c:cat>
          <c:val>
            <c:numLit>
              <c:formatCode>0</c:formatCode>
              <c:ptCount val="7"/>
              <c:pt idx="0">
                <c:v>0</c:v>
              </c:pt>
              <c:pt idx="1">
                <c:v>0</c:v>
              </c:pt>
              <c:pt idx="2">
                <c:v>33.7712</c:v>
              </c:pt>
              <c:pt idx="3">
                <c:v>71.75</c:v>
              </c:pt>
              <c:pt idx="4">
                <c:v>15</c:v>
              </c:pt>
              <c:pt idx="5">
                <c:v>6</c:v>
              </c:pt>
              <c:pt idx="6">
                <c:v>0</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788">
                <a:solidFill>
                  <a:srgbClr val="64748B"/>
                </a:solidFill>
                <a:latin typeface="Arial"/>
                <a:ea typeface="Arial"/>
                <a:cs typeface="Arial"/>
              </a:defRPr>
            </a:pPr>
          </a:p>
        </c:txPr>
        <c:crossAx val="48672768"/>
      </c:catAx>
      <c:valAx>
        <c:axId val="48672768"/>
        <c:scaling>
          <c:orientation val="minMax"/>
          <c:max val="165"/>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825">
                    <a:solidFill>
                      <a:srgbClr val="64748B"/>
                    </a:solidFill>
                    <a:latin typeface="Arial"/>
                    <a:ea typeface="Arial"/>
                    <a:cs typeface="Arial"/>
                  </a:rPr>
                  <a:t>₹ Cr</a:t>
                </a:r>
              </a:p>
            </c:rich>
          </c:tx>
          <c:overlay val="0"/>
          <c:txPr>
            <a:bodyPr xmlns:a="http://schemas.openxmlformats.org/drawingml/2006/main" anchorCtr="1"/>
            <a:lstStyle xmlns:a="http://schemas.openxmlformats.org/drawingml/2006/main"/>
            <a:p xmlns:a="http://schemas.openxmlformats.org/drawingml/2006/main">
              <a:pPr>
                <a:defRPr sz="825">
                  <a:solidFill>
                    <a:srgbClr val="64748B"/>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latin typeface="Arial"/>
                <a:ea typeface="Arial"/>
                <a:cs typeface="Arial"/>
              </a:defRPr>
            </a:pPr>
          </a:p>
        </c:txPr>
        <c:crossAx val="48650112"/>
        <c:crossBetween val="between"/>
        <c:majorUnit val="4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barChart>
        <c:barDir val="bar"/>
        <c:grouping val="clustered"/>
        <c:varyColors val="0"/>
        <c:ser>
          <c:idx val="0"/>
          <c:order val="0"/>
          <c:tx>
            <c:v>₹ Cr</c:v>
          </c:tx>
          <c:spPr>
            <a:solidFill xmlns:a="http://schemas.openxmlformats.org/drawingml/2006/main">
              <a:srgbClr val="0D9488"/>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0F172A"/>
                    </a:solidFill>
                    <a:latin typeface="Arial"/>
                    <a:ea typeface="Arial"/>
                    <a:cs typeface="Arial"/>
                  </a:defRPr>
                </a:pPr>
              </a:p>
            </c:txPr>
            <c:dLblPos val="outEnd"/>
            <c:showLegendKey val="0"/>
            <c:showVal val="1"/>
            <c:showCatName val="0"/>
            <c:showSerName val="0"/>
            <c:showPercent val="0"/>
            <c:showBubbleSize val="0"/>
            <c:showLeaderLines val="0"/>
          </c:dLbls>
          <c:cat>
            <c:strLit>
              <c:ptCount val="4"/>
              <c:pt idx="0">
                <c:v>Working capital</c:v>
              </c:pt>
              <c:pt idx="1">
                <c:v>Customer success</c:v>
              </c:pt>
              <c:pt idx="2">
                <c:v>Sales expansion</c:v>
              </c:pt>
              <c:pt idx="3">
                <c:v>Product engineering</c:v>
              </c:pt>
            </c:strLit>
          </c:cat>
          <c:val>
            <c:numLit>
              <c:formatCode>General</c:formatCode>
              <c:ptCount val="4"/>
              <c:pt idx="0">
                <c:v>2.5</c:v>
              </c:pt>
              <c:pt idx="1">
                <c:v>5</c:v>
              </c:pt>
              <c:pt idx="2">
                <c:v>7.5</c:v>
              </c:pt>
              <c:pt idx="3">
                <c:v>10</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825">
                    <a:solidFill>
                      <a:srgbClr val="64748B"/>
                    </a:solidFill>
                    <a:latin typeface="Arial"/>
                    <a:ea typeface="Arial"/>
                    <a:cs typeface="Arial"/>
                  </a:rPr>
                  <a:t>₹ Cr</a:t>
                </a:r>
              </a:p>
            </c:rich>
          </c:tx>
          <c:overlay val="0"/>
          <c:txPr>
            <a:bodyPr xmlns:a="http://schemas.openxmlformats.org/drawingml/2006/main" anchorCtr="1"/>
            <a:lstStyle xmlns:a="http://schemas.openxmlformats.org/drawingml/2006/main"/>
            <a:p xmlns:a="http://schemas.openxmlformats.org/drawingml/2006/main">
              <a:pPr>
                <a:defRPr sz="825">
                  <a:solidFill>
                    <a:srgbClr val="64748B"/>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88">
                <a:solidFill>
                  <a:srgbClr val="64748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title">
            <a:extLst xmlns:a="http://schemas.openxmlformats.org/drawingml/2006/main">
              <a:ext uri="{FF2B5EF4-FFF2-40B4-BE49-F238E27FC236}">
                <a16:creationId xmlns:a16="http://schemas.microsoft.com/office/drawing/2014/main" id="{00F33ACF-FC31-4871-B32F-C8A1B0B3D25D}"/>
              </a:ext>
            </a:extLst>
          </p:cNvPr>
          <p:cNvSpPr>
            <a:spLocks xmlns:a="http://schemas.openxmlformats.org/drawingml/2006/main" noGrp="1"/>
          </p:cNvSpPr>
          <p:nvPr/>
        </p:nvSpPr>
        <p:spPr>
          <a:xfrm xmlns:a="http://schemas.openxmlformats.org/drawingml/2006/main">
            <a:off x="533400" y="3048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0F172A"/>
                </a:solidFill>
                <a:latin typeface="Arial"/>
                <a:ea typeface="Arial"/>
                <a:cs typeface="Arial"/>
              </a:defRPr>
            </a:defPPr>
            <a:lvl1pPr algn="l">
              <a:defRPr sz="2325" b="1">
                <a:solidFill>
                  <a:srgbClr val="0F172A"/>
                </a:solidFill>
                <a:latin typeface="Arial"/>
                <a:ea typeface="Arial"/>
                <a:cs typeface="Arial"/>
              </a:defRPr>
            </a:lvl1pPr>
            <a:lvl2pPr algn="l">
              <a:defRPr sz="2325" b="1">
                <a:solidFill>
                  <a:srgbClr val="0F172A"/>
                </a:solidFill>
                <a:latin typeface="Arial"/>
                <a:ea typeface="Arial"/>
                <a:cs typeface="Arial"/>
              </a:defRPr>
            </a:lvl2pPr>
            <a:lvl3pPr algn="l">
              <a:defRPr sz="2325" b="1">
                <a:solidFill>
                  <a:srgbClr val="0F172A"/>
                </a:solidFill>
                <a:latin typeface="Arial"/>
                <a:ea typeface="Arial"/>
                <a:cs typeface="Arial"/>
              </a:defRPr>
            </a:lvl3pPr>
            <a:lvl4pPr algn="l">
              <a:defRPr sz="2325" b="1">
                <a:solidFill>
                  <a:srgbClr val="0F172A"/>
                </a:solidFill>
                <a:latin typeface="Arial"/>
                <a:ea typeface="Arial"/>
                <a:cs typeface="Arial"/>
              </a:defRPr>
            </a:lvl4pPr>
            <a:lvl5pPr algn="l">
              <a:defRPr sz="2325" b="1">
                <a:solidFill>
                  <a:srgbClr val="0F172A"/>
                </a:solidFill>
                <a:latin typeface="Arial"/>
                <a:ea typeface="Arial"/>
                <a:cs typeface="Arial"/>
              </a:defRPr>
            </a:lvl5pPr>
            <a:lvl6pPr algn="l">
              <a:defRPr sz="2325" b="1">
                <a:solidFill>
                  <a:srgbClr val="0F172A"/>
                </a:solidFill>
                <a:latin typeface="Arial"/>
                <a:ea typeface="Arial"/>
                <a:cs typeface="Arial"/>
              </a:defRPr>
            </a:lvl6pPr>
            <a:lvl7pPr algn="l">
              <a:defRPr sz="2325" b="1">
                <a:solidFill>
                  <a:srgbClr val="0F172A"/>
                </a:solidFill>
                <a:latin typeface="Arial"/>
                <a:ea typeface="Arial"/>
                <a:cs typeface="Arial"/>
              </a:defRPr>
            </a:lvl7pPr>
            <a:lvl8pPr algn="l">
              <a:defRPr sz="2325" b="1">
                <a:solidFill>
                  <a:srgbClr val="0F172A"/>
                </a:solidFill>
                <a:latin typeface="Arial"/>
                <a:ea typeface="Arial"/>
                <a:cs typeface="Arial"/>
              </a:defRPr>
            </a:lvl8pPr>
            <a:lvl9pPr algn="l">
              <a:defRPr sz="2325" b="1">
                <a:solidFill>
                  <a:srgbClr val="0F172A"/>
                </a:solidFill>
                <a:latin typeface="Arial"/>
                <a:ea typeface="Arial"/>
                <a:cs typeface="Arial"/>
              </a:defRPr>
            </a:lvl9pPr>
          </a:lstStyle>
          <a:p xmlns:a="http://schemas.openxmlformats.org/drawingml/2006/main">
            <a:pPr algn="l">
              <a:lnSpc>
                <a:spcPct val="96000"/>
              </a:lnSpc>
              <a:buNone/>
              <a:defRPr sz="2325" b="1">
                <a:solidFill>
                  <a:srgbClr val="0F172A"/>
                </a:solidFill>
                <a:latin typeface="Arial"/>
                <a:ea typeface="Arial"/>
                <a:cs typeface="Arial"/>
              </a:defRPr>
            </a:pPr>
            <a:r>
              <a:rPr sz="2325" b="1">
                <a:solidFill>
                  <a:srgbClr val="0F172A"/>
                </a:solidFill>
                <a:latin typeface="Arial"/>
                <a:ea typeface="Arial"/>
                <a:cs typeface="Arial"/>
              </a:rPr>
              <a:t>73× revenue growth since CY22H and 30× more customers</a:t>
            </a:r>
          </a:p>
        </p:txBody>
      </p:sp>
      <p:sp>
        <p:nvSpPr>
          <p:cNvPr id="2" name="slide-1-accent">
            <a:extLst xmlns:a="http://schemas.openxmlformats.org/drawingml/2006/main">
              <a:ext uri="{FF2B5EF4-FFF2-40B4-BE49-F238E27FC236}">
                <a16:creationId xmlns:a16="http://schemas.microsoft.com/office/drawing/2014/main" id="{6F5CA028-EF3C-4782-9944-2A9531666F30}"/>
              </a:ext>
            </a:extLst>
          </p:cNvPr>
          <p:cNvSpPr>
            <a:spLocks xmlns:a="http://schemas.openxmlformats.org/drawingml/2006/main" noGrp="1"/>
          </p:cNvSpPr>
          <p:nvPr/>
        </p:nvSpPr>
        <p:spPr>
          <a:xfrm xmlns:a="http://schemas.openxmlformats.org/drawingml/2006/main">
            <a:off x="533400" y="1133475"/>
            <a:ext cx="647700" cy="381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 name="slide-1-footer-rule">
            <a:extLst xmlns:a="http://schemas.openxmlformats.org/drawingml/2006/main">
              <a:ext uri="{FF2B5EF4-FFF2-40B4-BE49-F238E27FC236}">
                <a16:creationId xmlns:a16="http://schemas.microsoft.com/office/drawing/2014/main" id="{B3067F3F-CAD7-4FA2-9421-527E5585BAB7}"/>
              </a:ext>
            </a:extLst>
          </p:cNvPr>
          <p:cNvSpPr>
            <a:spLocks xmlns:a="http://schemas.openxmlformats.org/drawingml/2006/main" noGrp="1"/>
          </p:cNvSpPr>
          <p:nvPr/>
        </p:nvSpPr>
        <p:spPr>
          <a:xfrm xmlns:a="http://schemas.openxmlformats.org/drawingml/2006/main">
            <a:off x="533400" y="6524625"/>
            <a:ext cx="111252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4" name="slide-1-footer">
            <a:extLst xmlns:a="http://schemas.openxmlformats.org/drawingml/2006/main">
              <a:ext uri="{FF2B5EF4-FFF2-40B4-BE49-F238E27FC236}">
                <a16:creationId xmlns:a16="http://schemas.microsoft.com/office/drawing/2014/main" id="{35059318-9EAE-44E0-8D46-ED73F5DEC0FE}"/>
              </a:ext>
            </a:extLst>
          </p:cNvPr>
          <p:cNvSpPr>
            <a:spLocks xmlns:a="http://schemas.openxmlformats.org/drawingml/2006/main" noGrp="1"/>
          </p:cNvSpPr>
          <p:nvPr/>
        </p:nvSpPr>
        <p:spPr>
          <a:xfrm xmlns:a="http://schemas.openxmlformats.org/drawingml/2006/main">
            <a:off x="533400" y="658177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a:solidFill>
                  <a:srgbClr val="94A3B8"/>
                </a:solidFill>
                <a:latin typeface="Arial"/>
                <a:ea typeface="Arial"/>
                <a:cs typeface="Arial"/>
              </a:defRPr>
            </a:defPPr>
            <a:lvl1pPr algn="l">
              <a:defRPr sz="825">
                <a:solidFill>
                  <a:srgbClr val="94A3B8"/>
                </a:solidFill>
                <a:latin typeface="Arial"/>
                <a:ea typeface="Arial"/>
                <a:cs typeface="Arial"/>
              </a:defRPr>
            </a:lvl1pPr>
            <a:lvl2pPr algn="l">
              <a:defRPr sz="825">
                <a:solidFill>
                  <a:srgbClr val="94A3B8"/>
                </a:solidFill>
                <a:latin typeface="Arial"/>
                <a:ea typeface="Arial"/>
                <a:cs typeface="Arial"/>
              </a:defRPr>
            </a:lvl2pPr>
            <a:lvl3pPr algn="l">
              <a:defRPr sz="825">
                <a:solidFill>
                  <a:srgbClr val="94A3B8"/>
                </a:solidFill>
                <a:latin typeface="Arial"/>
                <a:ea typeface="Arial"/>
                <a:cs typeface="Arial"/>
              </a:defRPr>
            </a:lvl3pPr>
            <a:lvl4pPr algn="l">
              <a:defRPr sz="825">
                <a:solidFill>
                  <a:srgbClr val="94A3B8"/>
                </a:solidFill>
                <a:latin typeface="Arial"/>
                <a:ea typeface="Arial"/>
                <a:cs typeface="Arial"/>
              </a:defRPr>
            </a:lvl4pPr>
            <a:lvl5pPr algn="l">
              <a:defRPr sz="825">
                <a:solidFill>
                  <a:srgbClr val="94A3B8"/>
                </a:solidFill>
                <a:latin typeface="Arial"/>
                <a:ea typeface="Arial"/>
                <a:cs typeface="Arial"/>
              </a:defRPr>
            </a:lvl5pPr>
            <a:lvl6pPr algn="l">
              <a:defRPr sz="825">
                <a:solidFill>
                  <a:srgbClr val="94A3B8"/>
                </a:solidFill>
                <a:latin typeface="Arial"/>
                <a:ea typeface="Arial"/>
                <a:cs typeface="Arial"/>
              </a:defRPr>
            </a:lvl6pPr>
            <a:lvl7pPr algn="l">
              <a:defRPr sz="825">
                <a:solidFill>
                  <a:srgbClr val="94A3B8"/>
                </a:solidFill>
                <a:latin typeface="Arial"/>
                <a:ea typeface="Arial"/>
                <a:cs typeface="Arial"/>
              </a:defRPr>
            </a:lvl7pPr>
            <a:lvl8pPr algn="l">
              <a:defRPr sz="825">
                <a:solidFill>
                  <a:srgbClr val="94A3B8"/>
                </a:solidFill>
                <a:latin typeface="Arial"/>
                <a:ea typeface="Arial"/>
                <a:cs typeface="Arial"/>
              </a:defRPr>
            </a:lvl8pPr>
            <a:lvl9pPr algn="l">
              <a:defRPr sz="825">
                <a:solidFill>
                  <a:srgbClr val="94A3B8"/>
                </a:solidFill>
                <a:latin typeface="Arial"/>
                <a:ea typeface="Arial"/>
                <a:cs typeface="Arial"/>
              </a:defRPr>
            </a:lvl9pPr>
          </a:lstStyle>
          <a:p xmlns:a="http://schemas.openxmlformats.org/drawingml/2006/main">
            <a:pPr algn="l">
              <a:defRPr sz="825">
                <a:solidFill>
                  <a:srgbClr val="94A3B8"/>
                </a:solidFill>
                <a:latin typeface="Arial"/>
                <a:ea typeface="Arial"/>
                <a:cs typeface="Arial"/>
              </a:defRPr>
            </a:pPr>
            <a:r>
              <a:rPr sz="825">
                <a:solidFill>
                  <a:srgbClr val="94A3B8"/>
                </a:solidFill>
                <a:latin typeface="Arial"/>
                <a:ea typeface="Arial"/>
                <a:cs typeface="Arial"/>
              </a:rPr>
              <a:t>Sacrum · Classroom case. H = case history, E = estimate, * = classroom assumption. All figures are illustrative. CY = calendar year.</a:t>
            </a:r>
          </a:p>
        </p:txBody>
      </p:sp>
      <p:sp>
        <p:nvSpPr>
          <p:cNvPr id="5" name="slide-1-page">
            <a:extLst xmlns:a="http://schemas.openxmlformats.org/drawingml/2006/main">
              <a:ext uri="{FF2B5EF4-FFF2-40B4-BE49-F238E27FC236}">
                <a16:creationId xmlns:a16="http://schemas.microsoft.com/office/drawing/2014/main" id="{CE75A15C-B021-45F9-B09A-EBF637064C4D}"/>
              </a:ext>
            </a:extLst>
          </p:cNvPr>
          <p:cNvSpPr>
            <a:spLocks xmlns:a="http://schemas.openxmlformats.org/drawingml/2006/main" noGrp="1"/>
          </p:cNvSpPr>
          <p:nvPr/>
        </p:nvSpPr>
        <p:spPr>
          <a:xfrm xmlns:a="http://schemas.openxmlformats.org/drawingml/2006/main">
            <a:off x="10953750" y="6581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a:solidFill>
                  <a:srgbClr val="94A3B8"/>
                </a:solidFill>
                <a:latin typeface="Arial"/>
                <a:ea typeface="Arial"/>
                <a:cs typeface="Arial"/>
              </a:defRPr>
            </a:defPPr>
            <a:lvl1pPr algn="r">
              <a:defRPr sz="825">
                <a:solidFill>
                  <a:srgbClr val="94A3B8"/>
                </a:solidFill>
                <a:latin typeface="Arial"/>
                <a:ea typeface="Arial"/>
                <a:cs typeface="Arial"/>
              </a:defRPr>
            </a:lvl1pPr>
            <a:lvl2pPr algn="r">
              <a:defRPr sz="825">
                <a:solidFill>
                  <a:srgbClr val="94A3B8"/>
                </a:solidFill>
                <a:latin typeface="Arial"/>
                <a:ea typeface="Arial"/>
                <a:cs typeface="Arial"/>
              </a:defRPr>
            </a:lvl2pPr>
            <a:lvl3pPr algn="r">
              <a:defRPr sz="825">
                <a:solidFill>
                  <a:srgbClr val="94A3B8"/>
                </a:solidFill>
                <a:latin typeface="Arial"/>
                <a:ea typeface="Arial"/>
                <a:cs typeface="Arial"/>
              </a:defRPr>
            </a:lvl3pPr>
            <a:lvl4pPr algn="r">
              <a:defRPr sz="825">
                <a:solidFill>
                  <a:srgbClr val="94A3B8"/>
                </a:solidFill>
                <a:latin typeface="Arial"/>
                <a:ea typeface="Arial"/>
                <a:cs typeface="Arial"/>
              </a:defRPr>
            </a:lvl4pPr>
            <a:lvl5pPr algn="r">
              <a:defRPr sz="825">
                <a:solidFill>
                  <a:srgbClr val="94A3B8"/>
                </a:solidFill>
                <a:latin typeface="Arial"/>
                <a:ea typeface="Arial"/>
                <a:cs typeface="Arial"/>
              </a:defRPr>
            </a:lvl5pPr>
            <a:lvl6pPr algn="r">
              <a:defRPr sz="825">
                <a:solidFill>
                  <a:srgbClr val="94A3B8"/>
                </a:solidFill>
                <a:latin typeface="Arial"/>
                <a:ea typeface="Arial"/>
                <a:cs typeface="Arial"/>
              </a:defRPr>
            </a:lvl6pPr>
            <a:lvl7pPr algn="r">
              <a:defRPr sz="825">
                <a:solidFill>
                  <a:srgbClr val="94A3B8"/>
                </a:solidFill>
                <a:latin typeface="Arial"/>
                <a:ea typeface="Arial"/>
                <a:cs typeface="Arial"/>
              </a:defRPr>
            </a:lvl7pPr>
            <a:lvl8pPr algn="r">
              <a:defRPr sz="825">
                <a:solidFill>
                  <a:srgbClr val="94A3B8"/>
                </a:solidFill>
                <a:latin typeface="Arial"/>
                <a:ea typeface="Arial"/>
                <a:cs typeface="Arial"/>
              </a:defRPr>
            </a:lvl8pPr>
            <a:lvl9pPr algn="r">
              <a:defRPr sz="825">
                <a:solidFill>
                  <a:srgbClr val="94A3B8"/>
                </a:solidFill>
                <a:latin typeface="Arial"/>
                <a:ea typeface="Arial"/>
                <a:cs typeface="Arial"/>
              </a:defRPr>
            </a:lvl9pPr>
          </a:lstStyle>
          <a:p xmlns:a="http://schemas.openxmlformats.org/drawingml/2006/main">
            <a:pPr algn="r">
              <a:defRPr sz="825">
                <a:solidFill>
                  <a:srgbClr val="94A3B8"/>
                </a:solidFill>
                <a:latin typeface="Arial"/>
                <a:ea typeface="Arial"/>
                <a:cs typeface="Arial"/>
              </a:defRPr>
            </a:pPr>
            <a:r>
              <a:rPr sz="825">
                <a:solidFill>
                  <a:srgbClr val="94A3B8"/>
                </a:solidFill>
                <a:latin typeface="Arial"/>
                <a:ea typeface="Arial"/>
                <a:cs typeface="Arial"/>
              </a:rPr>
              <a:t>1 / 5</a:t>
            </a:r>
          </a:p>
        </p:txBody>
      </p:sp>
      <p:sp>
        <p:nvSpPr>
          <p:cNvPr id="6" name="revenue-chart-heading">
            <a:extLst xmlns:a="http://schemas.openxmlformats.org/drawingml/2006/main">
              <a:ext uri="{FF2B5EF4-FFF2-40B4-BE49-F238E27FC236}">
                <a16:creationId xmlns:a16="http://schemas.microsoft.com/office/drawing/2014/main" id="{BE22400B-5FD6-4CF0-91F7-0D0B1EB7D7B6}"/>
              </a:ext>
            </a:extLst>
          </p:cNvPr>
          <p:cNvSpPr>
            <a:spLocks xmlns:a="http://schemas.openxmlformats.org/drawingml/2006/main" noGrp="1"/>
          </p:cNvSpPr>
          <p:nvPr/>
        </p:nvSpPr>
        <p:spPr>
          <a:xfrm xmlns:a="http://schemas.openxmlformats.org/drawingml/2006/main">
            <a:off x="533400" y="1409700"/>
            <a:ext cx="5191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Recognised revenue by stream (₹ Cr)</a:t>
            </a:r>
          </a:p>
        </p:txBody>
      </p:sp>
      <p:graphicFrame>
        <p:nvGraphicFramePr>
          <p:cNvPr id="7" name="Chart">
            <a:extLst xmlns:a="http://schemas.openxmlformats.org/drawingml/2006/main">
              <a:ext uri="{FF2B5EF4-FFF2-40B4-BE49-F238E27FC236}">
                <a16:creationId xmlns:a16="http://schemas.microsoft.com/office/drawing/2014/main" id="{5402C985-C8C0-4FCD-9440-0C90A589057B}"/>
              </a:ext>
            </a:extLst>
          </p:cNvPr>
          <p:cNvGraphicFramePr/>
          <p:nvPr/>
        </p:nvGraphicFramePr>
        <p:xfrm>
          <a:off xmlns:a="http://schemas.openxmlformats.org/drawingml/2006/main" x="533400" y="1695450"/>
          <a:ext xmlns:a="http://schemas.openxmlformats.org/drawingml/2006/main" cx="5219700" cy="2400300"/>
        </p:xfrm>
        <a:graphic xmlns:a="http://schemas.openxmlformats.org/drawingml/2006/main">
          <a:graphicData uri="http://schemas.openxmlformats.org/drawingml/2006/chart">
            <c:chart xmlns:r="http://schemas.openxmlformats.org/officeDocument/2006/relationships" xmlns:c="http://schemas.openxmlformats.org/drawingml/2006/chart" r:id="R1491ed688bde4d68"/>
          </a:graphicData>
        </a:graphic>
      </p:graphicFrame>
      <p:sp>
        <p:nvSpPr>
          <p:cNvPr id="8" name="revenue-total-row">
            <a:extLst xmlns:a="http://schemas.openxmlformats.org/drawingml/2006/main">
              <a:ext uri="{FF2B5EF4-FFF2-40B4-BE49-F238E27FC236}">
                <a16:creationId xmlns:a16="http://schemas.microsoft.com/office/drawing/2014/main" id="{9D3B5CA0-85D5-4E6B-B842-5DAF02B09292}"/>
              </a:ext>
            </a:extLst>
          </p:cNvPr>
          <p:cNvSpPr>
            <a:spLocks xmlns:a="http://schemas.openxmlformats.org/drawingml/2006/main" noGrp="1"/>
          </p:cNvSpPr>
          <p:nvPr/>
        </p:nvSpPr>
        <p:spPr>
          <a:xfrm xmlns:a="http://schemas.openxmlformats.org/drawingml/2006/main">
            <a:off x="533400" y="4114800"/>
            <a:ext cx="521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15">
                <a:solidFill>
                  <a:srgbClr val="64748B"/>
                </a:solidFill>
                <a:latin typeface="Arial"/>
                <a:ea typeface="Arial"/>
                <a:cs typeface="Arial"/>
              </a:defRPr>
            </a:defPPr>
            <a:lvl1pPr algn="ctr">
              <a:defRPr sz="915">
                <a:solidFill>
                  <a:srgbClr val="64748B"/>
                </a:solidFill>
                <a:latin typeface="Arial"/>
                <a:ea typeface="Arial"/>
                <a:cs typeface="Arial"/>
              </a:defRPr>
            </a:lvl1pPr>
            <a:lvl2pPr algn="ctr">
              <a:defRPr sz="915">
                <a:solidFill>
                  <a:srgbClr val="64748B"/>
                </a:solidFill>
                <a:latin typeface="Arial"/>
                <a:ea typeface="Arial"/>
                <a:cs typeface="Arial"/>
              </a:defRPr>
            </a:lvl2pPr>
            <a:lvl3pPr algn="ctr">
              <a:defRPr sz="915">
                <a:solidFill>
                  <a:srgbClr val="64748B"/>
                </a:solidFill>
                <a:latin typeface="Arial"/>
                <a:ea typeface="Arial"/>
                <a:cs typeface="Arial"/>
              </a:defRPr>
            </a:lvl3pPr>
            <a:lvl4pPr algn="ctr">
              <a:defRPr sz="915">
                <a:solidFill>
                  <a:srgbClr val="64748B"/>
                </a:solidFill>
                <a:latin typeface="Arial"/>
                <a:ea typeface="Arial"/>
                <a:cs typeface="Arial"/>
              </a:defRPr>
            </a:lvl4pPr>
            <a:lvl5pPr algn="ctr">
              <a:defRPr sz="915">
                <a:solidFill>
                  <a:srgbClr val="64748B"/>
                </a:solidFill>
                <a:latin typeface="Arial"/>
                <a:ea typeface="Arial"/>
                <a:cs typeface="Arial"/>
              </a:defRPr>
            </a:lvl5pPr>
            <a:lvl6pPr algn="ctr">
              <a:defRPr sz="915">
                <a:solidFill>
                  <a:srgbClr val="64748B"/>
                </a:solidFill>
                <a:latin typeface="Arial"/>
                <a:ea typeface="Arial"/>
                <a:cs typeface="Arial"/>
              </a:defRPr>
            </a:lvl6pPr>
            <a:lvl7pPr algn="ctr">
              <a:defRPr sz="915">
                <a:solidFill>
                  <a:srgbClr val="64748B"/>
                </a:solidFill>
                <a:latin typeface="Arial"/>
                <a:ea typeface="Arial"/>
                <a:cs typeface="Arial"/>
              </a:defRPr>
            </a:lvl7pPr>
            <a:lvl8pPr algn="ctr">
              <a:defRPr sz="915">
                <a:solidFill>
                  <a:srgbClr val="64748B"/>
                </a:solidFill>
                <a:latin typeface="Arial"/>
                <a:ea typeface="Arial"/>
                <a:cs typeface="Arial"/>
              </a:defRPr>
            </a:lvl8pPr>
            <a:lvl9pPr algn="ctr">
              <a:defRPr sz="915">
                <a:solidFill>
                  <a:srgbClr val="64748B"/>
                </a:solidFill>
                <a:latin typeface="Arial"/>
                <a:ea typeface="Arial"/>
                <a:cs typeface="Arial"/>
              </a:defRPr>
            </a:lvl9pPr>
          </a:lstStyle>
          <a:p xmlns:a="http://schemas.openxmlformats.org/drawingml/2006/main">
            <a:pPr algn="ctr">
              <a:defRPr sz="915">
                <a:solidFill>
                  <a:srgbClr val="64748B"/>
                </a:solidFill>
                <a:latin typeface="Arial"/>
                <a:ea typeface="Arial"/>
                <a:cs typeface="Arial"/>
              </a:defRPr>
            </a:pPr>
            <a:r>
              <a:rPr sz="915">
                <a:solidFill>
                  <a:srgbClr val="64748B"/>
                </a:solidFill>
                <a:latin typeface="Arial"/>
                <a:ea typeface="Arial"/>
                <a:cs typeface="Arial"/>
              </a:rPr>
              <a:t>Total recognised revenue (₹ Cr): 0.44, 2.40, 11.0, 32.0</a:t>
            </a:r>
          </a:p>
        </p:txBody>
      </p:sp>
      <p:sp>
        <p:nvSpPr>
          <p:cNvPr id="9" name="customers-chart-heading">
            <a:extLst xmlns:a="http://schemas.openxmlformats.org/drawingml/2006/main">
              <a:ext uri="{FF2B5EF4-FFF2-40B4-BE49-F238E27FC236}">
                <a16:creationId xmlns:a16="http://schemas.microsoft.com/office/drawing/2014/main" id="{8B9AFCC8-EBC9-4A6D-99DB-33302E8F5F49}"/>
              </a:ext>
            </a:extLst>
          </p:cNvPr>
          <p:cNvSpPr>
            <a:spLocks xmlns:a="http://schemas.openxmlformats.org/drawingml/2006/main" noGrp="1"/>
          </p:cNvSpPr>
          <p:nvPr/>
        </p:nvSpPr>
        <p:spPr>
          <a:xfrm xmlns:a="http://schemas.openxmlformats.org/drawingml/2006/main">
            <a:off x="6143625" y="1409700"/>
            <a:ext cx="551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Customer growth and average revenue per customer</a:t>
            </a:r>
          </a:p>
        </p:txBody>
      </p:sp>
      <p:graphicFrame>
        <p:nvGraphicFramePr>
          <p:cNvPr id="10" name="Chart">
            <a:extLst xmlns:a="http://schemas.openxmlformats.org/drawingml/2006/main">
              <a:ext uri="{FF2B5EF4-FFF2-40B4-BE49-F238E27FC236}">
                <a16:creationId xmlns:a16="http://schemas.microsoft.com/office/drawing/2014/main" id="{3940C563-8083-42F8-B8D9-36699E00EBE1}"/>
              </a:ext>
            </a:extLst>
          </p:cNvPr>
          <p:cNvGraphicFramePr/>
          <p:nvPr/>
        </p:nvGraphicFramePr>
        <p:xfrm>
          <a:off xmlns:a="http://schemas.openxmlformats.org/drawingml/2006/main" x="6143625" y="1695450"/>
          <a:ext xmlns:a="http://schemas.openxmlformats.org/drawingml/2006/main" cx="5514975" cy="2400300"/>
        </p:xfrm>
        <a:graphic xmlns:a="http://schemas.openxmlformats.org/drawingml/2006/main">
          <a:graphicData uri="http://schemas.openxmlformats.org/drawingml/2006/chart">
            <c:chart xmlns:r="http://schemas.openxmlformats.org/officeDocument/2006/relationships" xmlns:c="http://schemas.openxmlformats.org/drawingml/2006/chart" r:id="R6698aabb7ee24f8a"/>
          </a:graphicData>
        </a:graphic>
      </p:graphicFrame>
      <p:sp>
        <p:nvSpPr>
          <p:cNvPr id="11" name="arpc-row">
            <a:extLst xmlns:a="http://schemas.openxmlformats.org/drawingml/2006/main">
              <a:ext uri="{FF2B5EF4-FFF2-40B4-BE49-F238E27FC236}">
                <a16:creationId xmlns:a16="http://schemas.microsoft.com/office/drawing/2014/main" id="{1C03E9E2-F584-4BBD-B16C-799A98CA7588}"/>
              </a:ext>
            </a:extLst>
          </p:cNvPr>
          <p:cNvSpPr>
            <a:spLocks xmlns:a="http://schemas.openxmlformats.org/drawingml/2006/main" noGrp="1"/>
          </p:cNvSpPr>
          <p:nvPr/>
        </p:nvSpPr>
        <p:spPr>
          <a:xfrm xmlns:a="http://schemas.openxmlformats.org/drawingml/2006/main">
            <a:off x="6143625" y="4114800"/>
            <a:ext cx="5514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15">
                <a:solidFill>
                  <a:srgbClr val="64748B"/>
                </a:solidFill>
                <a:latin typeface="Arial"/>
                <a:ea typeface="Arial"/>
                <a:cs typeface="Arial"/>
              </a:defRPr>
            </a:defPPr>
            <a:lvl1pPr algn="ctr">
              <a:defRPr sz="915">
                <a:solidFill>
                  <a:srgbClr val="64748B"/>
                </a:solidFill>
                <a:latin typeface="Arial"/>
                <a:ea typeface="Arial"/>
                <a:cs typeface="Arial"/>
              </a:defRPr>
            </a:lvl1pPr>
            <a:lvl2pPr algn="ctr">
              <a:defRPr sz="915">
                <a:solidFill>
                  <a:srgbClr val="64748B"/>
                </a:solidFill>
                <a:latin typeface="Arial"/>
                <a:ea typeface="Arial"/>
                <a:cs typeface="Arial"/>
              </a:defRPr>
            </a:lvl2pPr>
            <a:lvl3pPr algn="ctr">
              <a:defRPr sz="915">
                <a:solidFill>
                  <a:srgbClr val="64748B"/>
                </a:solidFill>
                <a:latin typeface="Arial"/>
                <a:ea typeface="Arial"/>
                <a:cs typeface="Arial"/>
              </a:defRPr>
            </a:lvl3pPr>
            <a:lvl4pPr algn="ctr">
              <a:defRPr sz="915">
                <a:solidFill>
                  <a:srgbClr val="64748B"/>
                </a:solidFill>
                <a:latin typeface="Arial"/>
                <a:ea typeface="Arial"/>
                <a:cs typeface="Arial"/>
              </a:defRPr>
            </a:lvl4pPr>
            <a:lvl5pPr algn="ctr">
              <a:defRPr sz="915">
                <a:solidFill>
                  <a:srgbClr val="64748B"/>
                </a:solidFill>
                <a:latin typeface="Arial"/>
                <a:ea typeface="Arial"/>
                <a:cs typeface="Arial"/>
              </a:defRPr>
            </a:lvl5pPr>
            <a:lvl6pPr algn="ctr">
              <a:defRPr sz="915">
                <a:solidFill>
                  <a:srgbClr val="64748B"/>
                </a:solidFill>
                <a:latin typeface="Arial"/>
                <a:ea typeface="Arial"/>
                <a:cs typeface="Arial"/>
              </a:defRPr>
            </a:lvl6pPr>
            <a:lvl7pPr algn="ctr">
              <a:defRPr sz="915">
                <a:solidFill>
                  <a:srgbClr val="64748B"/>
                </a:solidFill>
                <a:latin typeface="Arial"/>
                <a:ea typeface="Arial"/>
                <a:cs typeface="Arial"/>
              </a:defRPr>
            </a:lvl7pPr>
            <a:lvl8pPr algn="ctr">
              <a:defRPr sz="915">
                <a:solidFill>
                  <a:srgbClr val="64748B"/>
                </a:solidFill>
                <a:latin typeface="Arial"/>
                <a:ea typeface="Arial"/>
                <a:cs typeface="Arial"/>
              </a:defRPr>
            </a:lvl8pPr>
            <a:lvl9pPr algn="ctr">
              <a:defRPr sz="915">
                <a:solidFill>
                  <a:srgbClr val="64748B"/>
                </a:solidFill>
                <a:latin typeface="Arial"/>
                <a:ea typeface="Arial"/>
                <a:cs typeface="Arial"/>
              </a:defRPr>
            </a:lvl9pPr>
          </a:lstStyle>
          <a:p xmlns:a="http://schemas.openxmlformats.org/drawingml/2006/main">
            <a:pPr algn="ctr">
              <a:defRPr sz="915">
                <a:solidFill>
                  <a:srgbClr val="64748B"/>
                </a:solidFill>
                <a:latin typeface="Arial"/>
                <a:ea typeface="Arial"/>
                <a:cs typeface="Arial"/>
              </a:defRPr>
            </a:pPr>
            <a:r>
              <a:rPr sz="915">
                <a:solidFill>
                  <a:srgbClr val="64748B"/>
                </a:solidFill>
                <a:latin typeface="Arial"/>
                <a:ea typeface="Arial"/>
                <a:cs typeface="Arial"/>
              </a:rPr>
              <a:t>Average revenue / customer (₹ lakh): 11.0, 16.0, 24.4, 26.7</a:t>
            </a:r>
          </a:p>
        </p:txBody>
      </p:sp>
      <p:sp>
        <p:nvSpPr>
          <p:cNvPr id="12" name="takeaway-1">
            <a:extLst xmlns:a="http://schemas.openxmlformats.org/drawingml/2006/main">
              <a:ext uri="{FF2B5EF4-FFF2-40B4-BE49-F238E27FC236}">
                <a16:creationId xmlns:a16="http://schemas.microsoft.com/office/drawing/2014/main" id="{60C9BD05-1DBB-4FE4-8138-EFCA94B8F745}"/>
              </a:ext>
            </a:extLst>
          </p:cNvPr>
          <p:cNvSpPr>
            <a:spLocks xmlns:a="http://schemas.openxmlformats.org/drawingml/2006/main" noGrp="1"/>
          </p:cNvSpPr>
          <p:nvPr/>
        </p:nvSpPr>
        <p:spPr>
          <a:xfrm xmlns:a="http://schemas.openxmlformats.org/drawingml/2006/main">
            <a:off x="533400" y="470535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Revenue rose from ₹0.44 Cr in CY22H to ₹32 Cr in CY25H, a 73× increase and about 317% annual growth over three years.</a:t>
            </a:r>
          </a:p>
        </p:txBody>
      </p:sp>
      <p:sp>
        <p:nvSpPr>
          <p:cNvPr id="13" name="takeaway-2">
            <a:extLst xmlns:a="http://schemas.openxmlformats.org/drawingml/2006/main">
              <a:ext uri="{FF2B5EF4-FFF2-40B4-BE49-F238E27FC236}">
                <a16:creationId xmlns:a16="http://schemas.microsoft.com/office/drawing/2014/main" id="{0BC167DF-8CAD-4D65-BDDC-1089492DD239}"/>
              </a:ext>
            </a:extLst>
          </p:cNvPr>
          <p:cNvSpPr>
            <a:spLocks xmlns:a="http://schemas.openxmlformats.org/drawingml/2006/main" noGrp="1"/>
          </p:cNvSpPr>
          <p:nvPr/>
        </p:nvSpPr>
        <p:spPr>
          <a:xfrm xmlns:a="http://schemas.openxmlformats.org/drawingml/2006/main">
            <a:off x="4314825" y="470535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CY25H revenue grew 2.9× year over year. The company had 120 customers, including 40+ enterprises and two public-sector clients, BEL and ONGC.</a:t>
            </a:r>
          </a:p>
        </p:txBody>
      </p:sp>
      <p:sp>
        <p:nvSpPr>
          <p:cNvPr id="14" name="takeaway-divider-1">
            <a:extLst xmlns:a="http://schemas.openxmlformats.org/drawingml/2006/main">
              <a:ext uri="{FF2B5EF4-FFF2-40B4-BE49-F238E27FC236}">
                <a16:creationId xmlns:a16="http://schemas.microsoft.com/office/drawing/2014/main" id="{E109C464-948F-46EC-A327-08F265EBE733}"/>
              </a:ext>
            </a:extLst>
          </p:cNvPr>
          <p:cNvSpPr>
            <a:spLocks xmlns:a="http://schemas.openxmlformats.org/drawingml/2006/main" noGrp="1"/>
          </p:cNvSpPr>
          <p:nvPr/>
        </p:nvSpPr>
        <p:spPr>
          <a:xfrm xmlns:a="http://schemas.openxmlformats.org/drawingml/2006/main">
            <a:off x="4200525" y="471487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 name="takeaway-3">
            <a:extLst xmlns:a="http://schemas.openxmlformats.org/drawingml/2006/main">
              <a:ext uri="{FF2B5EF4-FFF2-40B4-BE49-F238E27FC236}">
                <a16:creationId xmlns:a16="http://schemas.microsoft.com/office/drawing/2014/main" id="{5B88E1C7-CC5A-412A-A115-42BF65813A1B}"/>
              </a:ext>
            </a:extLst>
          </p:cNvPr>
          <p:cNvSpPr>
            <a:spLocks xmlns:a="http://schemas.openxmlformats.org/drawingml/2006/main" noGrp="1"/>
          </p:cNvSpPr>
          <p:nvPr/>
        </p:nvSpPr>
        <p:spPr>
          <a:xfrm xmlns:a="http://schemas.openxmlformats.org/drawingml/2006/main">
            <a:off x="8096250" y="470535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The case assumes ₹0.93 Cr total capital to date: ₹0.75 Cr angel funding and ₹0.18 Cr founder savings. Customer receipts funded most expansion.</a:t>
            </a:r>
          </a:p>
        </p:txBody>
      </p:sp>
      <p:sp>
        <p:nvSpPr>
          <p:cNvPr id="16" name="takeaway-divider-2">
            <a:extLst xmlns:a="http://schemas.openxmlformats.org/drawingml/2006/main">
              <a:ext uri="{FF2B5EF4-FFF2-40B4-BE49-F238E27FC236}">
                <a16:creationId xmlns:a16="http://schemas.microsoft.com/office/drawing/2014/main" id="{E6EA42B0-EABA-46D9-B54A-C492763CB050}"/>
              </a:ext>
            </a:extLst>
          </p:cNvPr>
          <p:cNvSpPr>
            <a:spLocks xmlns:a="http://schemas.openxmlformats.org/drawingml/2006/main" noGrp="1"/>
          </p:cNvSpPr>
          <p:nvPr/>
        </p:nvSpPr>
        <p:spPr>
          <a:xfrm xmlns:a="http://schemas.openxmlformats.org/drawingml/2006/main">
            <a:off x="7981950" y="471487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Tree>
    <p:extLst>
      <p:ext uri="{BB962C8B-B14F-4D97-AF65-F5344CB8AC3E}">
        <p14:creationId xmlns:p14="http://schemas.microsoft.com/office/powerpoint/2010/main" val="2093171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2-title">
            <a:extLst xmlns:a="http://schemas.openxmlformats.org/drawingml/2006/main">
              <a:ext uri="{FF2B5EF4-FFF2-40B4-BE49-F238E27FC236}">
                <a16:creationId xmlns:a16="http://schemas.microsoft.com/office/drawing/2014/main" id="{5CB09B0F-B451-4A02-BEBA-A6A6C212FBCF}"/>
              </a:ext>
            </a:extLst>
          </p:cNvPr>
          <p:cNvSpPr>
            <a:spLocks xmlns:a="http://schemas.openxmlformats.org/drawingml/2006/main" noGrp="1"/>
          </p:cNvSpPr>
          <p:nvPr/>
        </p:nvSpPr>
        <p:spPr>
          <a:xfrm xmlns:a="http://schemas.openxmlformats.org/drawingml/2006/main">
            <a:off x="533400" y="3048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0F172A"/>
                </a:solidFill>
                <a:latin typeface="Arial"/>
                <a:ea typeface="Arial"/>
                <a:cs typeface="Arial"/>
              </a:defRPr>
            </a:defPPr>
            <a:lvl1pPr algn="l">
              <a:defRPr sz="2325" b="1">
                <a:solidFill>
                  <a:srgbClr val="0F172A"/>
                </a:solidFill>
                <a:latin typeface="Arial"/>
                <a:ea typeface="Arial"/>
                <a:cs typeface="Arial"/>
              </a:defRPr>
            </a:lvl1pPr>
            <a:lvl2pPr algn="l">
              <a:defRPr sz="2325" b="1">
                <a:solidFill>
                  <a:srgbClr val="0F172A"/>
                </a:solidFill>
                <a:latin typeface="Arial"/>
                <a:ea typeface="Arial"/>
                <a:cs typeface="Arial"/>
              </a:defRPr>
            </a:lvl2pPr>
            <a:lvl3pPr algn="l">
              <a:defRPr sz="2325" b="1">
                <a:solidFill>
                  <a:srgbClr val="0F172A"/>
                </a:solidFill>
                <a:latin typeface="Arial"/>
                <a:ea typeface="Arial"/>
                <a:cs typeface="Arial"/>
              </a:defRPr>
            </a:lvl3pPr>
            <a:lvl4pPr algn="l">
              <a:defRPr sz="2325" b="1">
                <a:solidFill>
                  <a:srgbClr val="0F172A"/>
                </a:solidFill>
                <a:latin typeface="Arial"/>
                <a:ea typeface="Arial"/>
                <a:cs typeface="Arial"/>
              </a:defRPr>
            </a:lvl4pPr>
            <a:lvl5pPr algn="l">
              <a:defRPr sz="2325" b="1">
                <a:solidFill>
                  <a:srgbClr val="0F172A"/>
                </a:solidFill>
                <a:latin typeface="Arial"/>
                <a:ea typeface="Arial"/>
                <a:cs typeface="Arial"/>
              </a:defRPr>
            </a:lvl5pPr>
            <a:lvl6pPr algn="l">
              <a:defRPr sz="2325" b="1">
                <a:solidFill>
                  <a:srgbClr val="0F172A"/>
                </a:solidFill>
                <a:latin typeface="Arial"/>
                <a:ea typeface="Arial"/>
                <a:cs typeface="Arial"/>
              </a:defRPr>
            </a:lvl6pPr>
            <a:lvl7pPr algn="l">
              <a:defRPr sz="2325" b="1">
                <a:solidFill>
                  <a:srgbClr val="0F172A"/>
                </a:solidFill>
                <a:latin typeface="Arial"/>
                <a:ea typeface="Arial"/>
                <a:cs typeface="Arial"/>
              </a:defRPr>
            </a:lvl7pPr>
            <a:lvl8pPr algn="l">
              <a:defRPr sz="2325" b="1">
                <a:solidFill>
                  <a:srgbClr val="0F172A"/>
                </a:solidFill>
                <a:latin typeface="Arial"/>
                <a:ea typeface="Arial"/>
                <a:cs typeface="Arial"/>
              </a:defRPr>
            </a:lvl8pPr>
            <a:lvl9pPr algn="l">
              <a:defRPr sz="2325" b="1">
                <a:solidFill>
                  <a:srgbClr val="0F172A"/>
                </a:solidFill>
                <a:latin typeface="Arial"/>
                <a:ea typeface="Arial"/>
                <a:cs typeface="Arial"/>
              </a:defRPr>
            </a:lvl9pPr>
          </a:lstStyle>
          <a:p xmlns:a="http://schemas.openxmlformats.org/drawingml/2006/main">
            <a:pPr algn="l">
              <a:lnSpc>
                <a:spcPct val="96000"/>
              </a:lnSpc>
              <a:buNone/>
              <a:defRPr sz="2325" b="1">
                <a:solidFill>
                  <a:srgbClr val="0F172A"/>
                </a:solidFill>
                <a:latin typeface="Arial"/>
                <a:ea typeface="Arial"/>
                <a:cs typeface="Arial"/>
              </a:defRPr>
            </a:pPr>
            <a:r>
              <a:rPr sz="2325" b="1">
                <a:solidFill>
                  <a:srgbClr val="0F172A"/>
                </a:solidFill>
                <a:latin typeface="Arial"/>
                <a:ea typeface="Arial"/>
                <a:cs typeface="Arial"/>
              </a:rPr>
              <a:t>Cordata is raising the share of recurring, higher-margin revenue</a:t>
            </a:r>
          </a:p>
        </p:txBody>
      </p:sp>
      <p:sp>
        <p:nvSpPr>
          <p:cNvPr id="2" name="slide-2-accent">
            <a:extLst xmlns:a="http://schemas.openxmlformats.org/drawingml/2006/main">
              <a:ext uri="{FF2B5EF4-FFF2-40B4-BE49-F238E27FC236}">
                <a16:creationId xmlns:a16="http://schemas.microsoft.com/office/drawing/2014/main" id="{5515B4B0-BC4D-4BC3-A655-AF3C1D9B3156}"/>
              </a:ext>
            </a:extLst>
          </p:cNvPr>
          <p:cNvSpPr>
            <a:spLocks xmlns:a="http://schemas.openxmlformats.org/drawingml/2006/main" noGrp="1"/>
          </p:cNvSpPr>
          <p:nvPr/>
        </p:nvSpPr>
        <p:spPr>
          <a:xfrm xmlns:a="http://schemas.openxmlformats.org/drawingml/2006/main">
            <a:off x="533400" y="1133475"/>
            <a:ext cx="647700" cy="381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 name="slide-2-footer-rule">
            <a:extLst xmlns:a="http://schemas.openxmlformats.org/drawingml/2006/main">
              <a:ext uri="{FF2B5EF4-FFF2-40B4-BE49-F238E27FC236}">
                <a16:creationId xmlns:a16="http://schemas.microsoft.com/office/drawing/2014/main" id="{31A0C2FE-448A-4475-B53A-334C58641AE3}"/>
              </a:ext>
            </a:extLst>
          </p:cNvPr>
          <p:cNvSpPr>
            <a:spLocks xmlns:a="http://schemas.openxmlformats.org/drawingml/2006/main" noGrp="1"/>
          </p:cNvSpPr>
          <p:nvPr/>
        </p:nvSpPr>
        <p:spPr>
          <a:xfrm xmlns:a="http://schemas.openxmlformats.org/drawingml/2006/main">
            <a:off x="533400" y="6524625"/>
            <a:ext cx="111252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4" name="slide-2-footer">
            <a:extLst xmlns:a="http://schemas.openxmlformats.org/drawingml/2006/main">
              <a:ext uri="{FF2B5EF4-FFF2-40B4-BE49-F238E27FC236}">
                <a16:creationId xmlns:a16="http://schemas.microsoft.com/office/drawing/2014/main" id="{B14D93AE-E8F8-46F9-8FFC-79EBEDDA5E55}"/>
              </a:ext>
            </a:extLst>
          </p:cNvPr>
          <p:cNvSpPr>
            <a:spLocks xmlns:a="http://schemas.openxmlformats.org/drawingml/2006/main" noGrp="1"/>
          </p:cNvSpPr>
          <p:nvPr/>
        </p:nvSpPr>
        <p:spPr>
          <a:xfrm xmlns:a="http://schemas.openxmlformats.org/drawingml/2006/main">
            <a:off x="533400" y="658177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a:solidFill>
                  <a:srgbClr val="94A3B8"/>
                </a:solidFill>
                <a:latin typeface="Arial"/>
                <a:ea typeface="Arial"/>
                <a:cs typeface="Arial"/>
              </a:defRPr>
            </a:defPPr>
            <a:lvl1pPr algn="l">
              <a:defRPr sz="825">
                <a:solidFill>
                  <a:srgbClr val="94A3B8"/>
                </a:solidFill>
                <a:latin typeface="Arial"/>
                <a:ea typeface="Arial"/>
                <a:cs typeface="Arial"/>
              </a:defRPr>
            </a:lvl1pPr>
            <a:lvl2pPr algn="l">
              <a:defRPr sz="825">
                <a:solidFill>
                  <a:srgbClr val="94A3B8"/>
                </a:solidFill>
                <a:latin typeface="Arial"/>
                <a:ea typeface="Arial"/>
                <a:cs typeface="Arial"/>
              </a:defRPr>
            </a:lvl2pPr>
            <a:lvl3pPr algn="l">
              <a:defRPr sz="825">
                <a:solidFill>
                  <a:srgbClr val="94A3B8"/>
                </a:solidFill>
                <a:latin typeface="Arial"/>
                <a:ea typeface="Arial"/>
                <a:cs typeface="Arial"/>
              </a:defRPr>
            </a:lvl3pPr>
            <a:lvl4pPr algn="l">
              <a:defRPr sz="825">
                <a:solidFill>
                  <a:srgbClr val="94A3B8"/>
                </a:solidFill>
                <a:latin typeface="Arial"/>
                <a:ea typeface="Arial"/>
                <a:cs typeface="Arial"/>
              </a:defRPr>
            </a:lvl4pPr>
            <a:lvl5pPr algn="l">
              <a:defRPr sz="825">
                <a:solidFill>
                  <a:srgbClr val="94A3B8"/>
                </a:solidFill>
                <a:latin typeface="Arial"/>
                <a:ea typeface="Arial"/>
                <a:cs typeface="Arial"/>
              </a:defRPr>
            </a:lvl5pPr>
            <a:lvl6pPr algn="l">
              <a:defRPr sz="825">
                <a:solidFill>
                  <a:srgbClr val="94A3B8"/>
                </a:solidFill>
                <a:latin typeface="Arial"/>
                <a:ea typeface="Arial"/>
                <a:cs typeface="Arial"/>
              </a:defRPr>
            </a:lvl6pPr>
            <a:lvl7pPr algn="l">
              <a:defRPr sz="825">
                <a:solidFill>
                  <a:srgbClr val="94A3B8"/>
                </a:solidFill>
                <a:latin typeface="Arial"/>
                <a:ea typeface="Arial"/>
                <a:cs typeface="Arial"/>
              </a:defRPr>
            </a:lvl7pPr>
            <a:lvl8pPr algn="l">
              <a:defRPr sz="825">
                <a:solidFill>
                  <a:srgbClr val="94A3B8"/>
                </a:solidFill>
                <a:latin typeface="Arial"/>
                <a:ea typeface="Arial"/>
                <a:cs typeface="Arial"/>
              </a:defRPr>
            </a:lvl8pPr>
            <a:lvl9pPr algn="l">
              <a:defRPr sz="825">
                <a:solidFill>
                  <a:srgbClr val="94A3B8"/>
                </a:solidFill>
                <a:latin typeface="Arial"/>
                <a:ea typeface="Arial"/>
                <a:cs typeface="Arial"/>
              </a:defRPr>
            </a:lvl9pPr>
          </a:lstStyle>
          <a:p xmlns:a="http://schemas.openxmlformats.org/drawingml/2006/main">
            <a:pPr algn="l">
              <a:defRPr sz="825">
                <a:solidFill>
                  <a:srgbClr val="94A3B8"/>
                </a:solidFill>
                <a:latin typeface="Arial"/>
                <a:ea typeface="Arial"/>
                <a:cs typeface="Arial"/>
              </a:defRPr>
            </a:pPr>
            <a:r>
              <a:rPr sz="825">
                <a:solidFill>
                  <a:srgbClr val="94A3B8"/>
                </a:solidFill>
                <a:latin typeface="Arial"/>
                <a:ea typeface="Arial"/>
                <a:cs typeface="Arial"/>
              </a:rPr>
              <a:t>Sacrum · Classroom case. H = case history, E = estimate, * = classroom assumption. All figures are illustrative. CY = calendar year.</a:t>
            </a:r>
          </a:p>
        </p:txBody>
      </p:sp>
      <p:sp>
        <p:nvSpPr>
          <p:cNvPr id="5" name="slide-2-page">
            <a:extLst xmlns:a="http://schemas.openxmlformats.org/drawingml/2006/main">
              <a:ext uri="{FF2B5EF4-FFF2-40B4-BE49-F238E27FC236}">
                <a16:creationId xmlns:a16="http://schemas.microsoft.com/office/drawing/2014/main" id="{0A39E88C-D57A-4836-89D8-A9DF3EF4A36C}"/>
              </a:ext>
            </a:extLst>
          </p:cNvPr>
          <p:cNvSpPr>
            <a:spLocks xmlns:a="http://schemas.openxmlformats.org/drawingml/2006/main" noGrp="1"/>
          </p:cNvSpPr>
          <p:nvPr/>
        </p:nvSpPr>
        <p:spPr>
          <a:xfrm xmlns:a="http://schemas.openxmlformats.org/drawingml/2006/main">
            <a:off x="10953750" y="6581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a:solidFill>
                  <a:srgbClr val="94A3B8"/>
                </a:solidFill>
                <a:latin typeface="Arial"/>
                <a:ea typeface="Arial"/>
                <a:cs typeface="Arial"/>
              </a:defRPr>
            </a:defPPr>
            <a:lvl1pPr algn="r">
              <a:defRPr sz="825">
                <a:solidFill>
                  <a:srgbClr val="94A3B8"/>
                </a:solidFill>
                <a:latin typeface="Arial"/>
                <a:ea typeface="Arial"/>
                <a:cs typeface="Arial"/>
              </a:defRPr>
            </a:lvl1pPr>
            <a:lvl2pPr algn="r">
              <a:defRPr sz="825">
                <a:solidFill>
                  <a:srgbClr val="94A3B8"/>
                </a:solidFill>
                <a:latin typeface="Arial"/>
                <a:ea typeface="Arial"/>
                <a:cs typeface="Arial"/>
              </a:defRPr>
            </a:lvl2pPr>
            <a:lvl3pPr algn="r">
              <a:defRPr sz="825">
                <a:solidFill>
                  <a:srgbClr val="94A3B8"/>
                </a:solidFill>
                <a:latin typeface="Arial"/>
                <a:ea typeface="Arial"/>
                <a:cs typeface="Arial"/>
              </a:defRPr>
            </a:lvl3pPr>
            <a:lvl4pPr algn="r">
              <a:defRPr sz="825">
                <a:solidFill>
                  <a:srgbClr val="94A3B8"/>
                </a:solidFill>
                <a:latin typeface="Arial"/>
                <a:ea typeface="Arial"/>
                <a:cs typeface="Arial"/>
              </a:defRPr>
            </a:lvl4pPr>
            <a:lvl5pPr algn="r">
              <a:defRPr sz="825">
                <a:solidFill>
                  <a:srgbClr val="94A3B8"/>
                </a:solidFill>
                <a:latin typeface="Arial"/>
                <a:ea typeface="Arial"/>
                <a:cs typeface="Arial"/>
              </a:defRPr>
            </a:lvl5pPr>
            <a:lvl6pPr algn="r">
              <a:defRPr sz="825">
                <a:solidFill>
                  <a:srgbClr val="94A3B8"/>
                </a:solidFill>
                <a:latin typeface="Arial"/>
                <a:ea typeface="Arial"/>
                <a:cs typeface="Arial"/>
              </a:defRPr>
            </a:lvl6pPr>
            <a:lvl7pPr algn="r">
              <a:defRPr sz="825">
                <a:solidFill>
                  <a:srgbClr val="94A3B8"/>
                </a:solidFill>
                <a:latin typeface="Arial"/>
                <a:ea typeface="Arial"/>
                <a:cs typeface="Arial"/>
              </a:defRPr>
            </a:lvl7pPr>
            <a:lvl8pPr algn="r">
              <a:defRPr sz="825">
                <a:solidFill>
                  <a:srgbClr val="94A3B8"/>
                </a:solidFill>
                <a:latin typeface="Arial"/>
                <a:ea typeface="Arial"/>
                <a:cs typeface="Arial"/>
              </a:defRPr>
            </a:lvl8pPr>
            <a:lvl9pPr algn="r">
              <a:defRPr sz="825">
                <a:solidFill>
                  <a:srgbClr val="94A3B8"/>
                </a:solidFill>
                <a:latin typeface="Arial"/>
                <a:ea typeface="Arial"/>
                <a:cs typeface="Arial"/>
              </a:defRPr>
            </a:lvl9pPr>
          </a:lstStyle>
          <a:p xmlns:a="http://schemas.openxmlformats.org/drawingml/2006/main">
            <a:pPr algn="r">
              <a:defRPr sz="825">
                <a:solidFill>
                  <a:srgbClr val="94A3B8"/>
                </a:solidFill>
                <a:latin typeface="Arial"/>
                <a:ea typeface="Arial"/>
                <a:cs typeface="Arial"/>
              </a:defRPr>
            </a:pPr>
            <a:r>
              <a:rPr sz="825">
                <a:solidFill>
                  <a:srgbClr val="94A3B8"/>
                </a:solidFill>
                <a:latin typeface="Arial"/>
                <a:ea typeface="Arial"/>
                <a:cs typeface="Arial"/>
              </a:rPr>
              <a:t>2 / 5</a:t>
            </a:r>
          </a:p>
        </p:txBody>
      </p:sp>
      <p:sp>
        <p:nvSpPr>
          <p:cNvPr id="6" name="mix-heading">
            <a:extLst xmlns:a="http://schemas.openxmlformats.org/drawingml/2006/main">
              <a:ext uri="{FF2B5EF4-FFF2-40B4-BE49-F238E27FC236}">
                <a16:creationId xmlns:a16="http://schemas.microsoft.com/office/drawing/2014/main" id="{D7D802B6-0E36-4921-853B-4FC567586579}"/>
              </a:ext>
            </a:extLst>
          </p:cNvPr>
          <p:cNvSpPr>
            <a:spLocks xmlns:a="http://schemas.openxmlformats.org/drawingml/2006/main" noGrp="1"/>
          </p:cNvSpPr>
          <p:nvPr/>
        </p:nvSpPr>
        <p:spPr>
          <a:xfrm xmlns:a="http://schemas.openxmlformats.org/drawingml/2006/main">
            <a:off x="533400" y="1409700"/>
            <a:ext cx="521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Recognised revenue mix and blended gross margin*</a:t>
            </a:r>
          </a:p>
        </p:txBody>
      </p:sp>
      <p:graphicFrame>
        <p:nvGraphicFramePr>
          <p:cNvPr id="7" name="Chart">
            <a:extLst xmlns:a="http://schemas.openxmlformats.org/drawingml/2006/main">
              <a:ext uri="{FF2B5EF4-FFF2-40B4-BE49-F238E27FC236}">
                <a16:creationId xmlns:a16="http://schemas.microsoft.com/office/drawing/2014/main" id="{F75975DF-9B64-4E43-A872-CA42A37779E4}"/>
              </a:ext>
            </a:extLst>
          </p:cNvPr>
          <p:cNvGraphicFramePr/>
          <p:nvPr/>
        </p:nvGraphicFramePr>
        <p:xfrm>
          <a:off xmlns:a="http://schemas.openxmlformats.org/drawingml/2006/main" x="533400" y="1695450"/>
          <a:ext xmlns:a="http://schemas.openxmlformats.org/drawingml/2006/main" cx="5219700" cy="2400300"/>
        </p:xfrm>
        <a:graphic xmlns:a="http://schemas.openxmlformats.org/drawingml/2006/main">
          <a:graphicData uri="http://schemas.openxmlformats.org/drawingml/2006/chart">
            <c:chart xmlns:r="http://schemas.openxmlformats.org/officeDocument/2006/relationships" xmlns:c="http://schemas.openxmlformats.org/drawingml/2006/chart" r:id="R115c8e9b8d934f9d"/>
          </a:graphicData>
        </a:graphic>
      </p:graphicFrame>
      <p:sp>
        <p:nvSpPr>
          <p:cNvPr id="8" name="mix-metrics-row">
            <a:extLst xmlns:a="http://schemas.openxmlformats.org/drawingml/2006/main">
              <a:ext uri="{FF2B5EF4-FFF2-40B4-BE49-F238E27FC236}">
                <a16:creationId xmlns:a16="http://schemas.microsoft.com/office/drawing/2014/main" id="{5F490BA1-4538-44F5-87DE-7E8EFDF599A3}"/>
              </a:ext>
            </a:extLst>
          </p:cNvPr>
          <p:cNvSpPr>
            <a:spLocks xmlns:a="http://schemas.openxmlformats.org/drawingml/2006/main" noGrp="1"/>
          </p:cNvSpPr>
          <p:nvPr/>
        </p:nvSpPr>
        <p:spPr>
          <a:xfrm xmlns:a="http://schemas.openxmlformats.org/drawingml/2006/main">
            <a:off x="533400" y="4114800"/>
            <a:ext cx="5219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a:solidFill>
                  <a:srgbClr val="64748B"/>
                </a:solidFill>
                <a:latin typeface="Arial"/>
                <a:ea typeface="Arial"/>
                <a:cs typeface="Arial"/>
              </a:defRPr>
            </a:defPPr>
            <a:lvl1pPr algn="ctr">
              <a:defRPr sz="900">
                <a:solidFill>
                  <a:srgbClr val="64748B"/>
                </a:solidFill>
                <a:latin typeface="Arial"/>
                <a:ea typeface="Arial"/>
                <a:cs typeface="Arial"/>
              </a:defRPr>
            </a:lvl1pPr>
            <a:lvl2pPr algn="ctr">
              <a:defRPr sz="900">
                <a:solidFill>
                  <a:srgbClr val="64748B"/>
                </a:solidFill>
                <a:latin typeface="Arial"/>
                <a:ea typeface="Arial"/>
                <a:cs typeface="Arial"/>
              </a:defRPr>
            </a:lvl2pPr>
            <a:lvl3pPr algn="ctr">
              <a:defRPr sz="900">
                <a:solidFill>
                  <a:srgbClr val="64748B"/>
                </a:solidFill>
                <a:latin typeface="Arial"/>
                <a:ea typeface="Arial"/>
                <a:cs typeface="Arial"/>
              </a:defRPr>
            </a:lvl3pPr>
            <a:lvl4pPr algn="ctr">
              <a:defRPr sz="900">
                <a:solidFill>
                  <a:srgbClr val="64748B"/>
                </a:solidFill>
                <a:latin typeface="Arial"/>
                <a:ea typeface="Arial"/>
                <a:cs typeface="Arial"/>
              </a:defRPr>
            </a:lvl4pPr>
            <a:lvl5pPr algn="ctr">
              <a:defRPr sz="900">
                <a:solidFill>
                  <a:srgbClr val="64748B"/>
                </a:solidFill>
                <a:latin typeface="Arial"/>
                <a:ea typeface="Arial"/>
                <a:cs typeface="Arial"/>
              </a:defRPr>
            </a:lvl5pPr>
            <a:lvl6pPr algn="ctr">
              <a:defRPr sz="900">
                <a:solidFill>
                  <a:srgbClr val="64748B"/>
                </a:solidFill>
                <a:latin typeface="Arial"/>
                <a:ea typeface="Arial"/>
                <a:cs typeface="Arial"/>
              </a:defRPr>
            </a:lvl6pPr>
            <a:lvl7pPr algn="ctr">
              <a:defRPr sz="900">
                <a:solidFill>
                  <a:srgbClr val="64748B"/>
                </a:solidFill>
                <a:latin typeface="Arial"/>
                <a:ea typeface="Arial"/>
                <a:cs typeface="Arial"/>
              </a:defRPr>
            </a:lvl7pPr>
            <a:lvl8pPr algn="ctr">
              <a:defRPr sz="900">
                <a:solidFill>
                  <a:srgbClr val="64748B"/>
                </a:solidFill>
                <a:latin typeface="Arial"/>
                <a:ea typeface="Arial"/>
                <a:cs typeface="Arial"/>
              </a:defRPr>
            </a:lvl8pPr>
            <a:lvl9pPr algn="ctr">
              <a:defRPr sz="900">
                <a:solidFill>
                  <a:srgbClr val="64748B"/>
                </a:solidFill>
                <a:latin typeface="Arial"/>
                <a:ea typeface="Arial"/>
                <a:cs typeface="Arial"/>
              </a:defRPr>
            </a:lvl9pPr>
          </a:lstStyle>
          <a:p xmlns:a="http://schemas.openxmlformats.org/drawingml/2006/main">
            <a:pPr algn="ctr">
              <a:defRPr sz="900">
                <a:solidFill>
                  <a:srgbClr val="64748B"/>
                </a:solidFill>
                <a:latin typeface="Arial"/>
                <a:ea typeface="Arial"/>
                <a:cs typeface="Arial"/>
              </a:defRPr>
            </a:pPr>
            <a:r>
              <a:rPr sz="900">
                <a:solidFill>
                  <a:srgbClr val="64748B"/>
                </a:solidFill>
                <a:latin typeface="Arial"/>
                <a:ea typeface="Arial"/>
                <a:cs typeface="Arial"/>
              </a:rPr>
              <a:t>Cordata share: 9%, 20%, 30%, 35%. Blended GM*: 33%, 38%, 45%, 50%.</a:t>
            </a:r>
          </a:p>
        </p:txBody>
      </p:sp>
      <p:sp>
        <p:nvSpPr>
          <p:cNvPr id="9" name="arr-heading">
            <a:extLst xmlns:a="http://schemas.openxmlformats.org/drawingml/2006/main">
              <a:ext uri="{FF2B5EF4-FFF2-40B4-BE49-F238E27FC236}">
                <a16:creationId xmlns:a16="http://schemas.microsoft.com/office/drawing/2014/main" id="{B2251C59-C8EA-4C58-818C-CA9192CB0EA2}"/>
              </a:ext>
            </a:extLst>
          </p:cNvPr>
          <p:cNvSpPr>
            <a:spLocks xmlns:a="http://schemas.openxmlformats.org/drawingml/2006/main" noGrp="1"/>
          </p:cNvSpPr>
          <p:nvPr/>
        </p:nvSpPr>
        <p:spPr>
          <a:xfrm xmlns:a="http://schemas.openxmlformats.org/drawingml/2006/main">
            <a:off x="6143625" y="1409700"/>
            <a:ext cx="551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Cordata recognised revenue vs exit ARR (₹ Cr)</a:t>
            </a:r>
          </a:p>
        </p:txBody>
      </p:sp>
      <p:graphicFrame>
        <p:nvGraphicFramePr>
          <p:cNvPr id="10" name="Chart">
            <a:extLst xmlns:a="http://schemas.openxmlformats.org/drawingml/2006/main">
              <a:ext uri="{FF2B5EF4-FFF2-40B4-BE49-F238E27FC236}">
                <a16:creationId xmlns:a16="http://schemas.microsoft.com/office/drawing/2014/main" id="{6C9D2FCE-E481-4572-8165-EE07D4627DD7}"/>
              </a:ext>
            </a:extLst>
          </p:cNvPr>
          <p:cNvGraphicFramePr/>
          <p:nvPr/>
        </p:nvGraphicFramePr>
        <p:xfrm>
          <a:off xmlns:a="http://schemas.openxmlformats.org/drawingml/2006/main" x="6143625" y="1695450"/>
          <a:ext xmlns:a="http://schemas.openxmlformats.org/drawingml/2006/main" cx="5514975" cy="2647950"/>
        </p:xfrm>
        <a:graphic xmlns:a="http://schemas.openxmlformats.org/drawingml/2006/main">
          <a:graphicData uri="http://schemas.openxmlformats.org/drawingml/2006/chart">
            <c:chart xmlns:r="http://schemas.openxmlformats.org/officeDocument/2006/relationships" xmlns:c="http://schemas.openxmlformats.org/drawingml/2006/chart" r:id="R3f4ba07eb088405c"/>
          </a:graphicData>
        </a:graphic>
      </p:graphicFrame>
      <p:sp>
        <p:nvSpPr>
          <p:cNvPr id="11" name="takeaway-1">
            <a:extLst xmlns:a="http://schemas.openxmlformats.org/drawingml/2006/main">
              <a:ext uri="{FF2B5EF4-FFF2-40B4-BE49-F238E27FC236}">
                <a16:creationId xmlns:a16="http://schemas.microsoft.com/office/drawing/2014/main" id="{30C192AC-A1C7-468F-98B8-86D29CC58377}"/>
              </a:ext>
            </a:extLst>
          </p:cNvPr>
          <p:cNvSpPr>
            <a:spLocks xmlns:a="http://schemas.openxmlformats.org/drawingml/2006/main" noGrp="1"/>
          </p:cNvSpPr>
          <p:nvPr/>
        </p:nvSpPr>
        <p:spPr>
          <a:xfrm xmlns:a="http://schemas.openxmlformats.org/drawingml/2006/main">
            <a:off x="533400" y="470535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Cordata reached 35% of recognised revenue in CY25H, up from 9% in CY22H.</a:t>
            </a:r>
          </a:p>
        </p:txBody>
      </p:sp>
      <p:sp>
        <p:nvSpPr>
          <p:cNvPr id="12" name="takeaway-2">
            <a:extLst xmlns:a="http://schemas.openxmlformats.org/drawingml/2006/main">
              <a:ext uri="{FF2B5EF4-FFF2-40B4-BE49-F238E27FC236}">
                <a16:creationId xmlns:a16="http://schemas.microsoft.com/office/drawing/2014/main" id="{3EFC9A6A-AE42-4D53-85CC-FFE0342E2B3C}"/>
              </a:ext>
            </a:extLst>
          </p:cNvPr>
          <p:cNvSpPr>
            <a:spLocks xmlns:a="http://schemas.openxmlformats.org/drawingml/2006/main" noGrp="1"/>
          </p:cNvSpPr>
          <p:nvPr/>
        </p:nvSpPr>
        <p:spPr>
          <a:xfrm xmlns:a="http://schemas.openxmlformats.org/drawingml/2006/main">
            <a:off x="4314825" y="470535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Blended gross margin rose from 33% to 50% under the case’s management allocations. Cordata margin assumptions are higher than services assumptions.</a:t>
            </a:r>
          </a:p>
        </p:txBody>
      </p:sp>
      <p:sp>
        <p:nvSpPr>
          <p:cNvPr id="13" name="takeaway-divider-1">
            <a:extLst xmlns:a="http://schemas.openxmlformats.org/drawingml/2006/main">
              <a:ext uri="{FF2B5EF4-FFF2-40B4-BE49-F238E27FC236}">
                <a16:creationId xmlns:a16="http://schemas.microsoft.com/office/drawing/2014/main" id="{BD04C52C-6AE0-4AEF-9573-FA1B11544FE1}"/>
              </a:ext>
            </a:extLst>
          </p:cNvPr>
          <p:cNvSpPr>
            <a:spLocks xmlns:a="http://schemas.openxmlformats.org/drawingml/2006/main" noGrp="1"/>
          </p:cNvSpPr>
          <p:nvPr/>
        </p:nvSpPr>
        <p:spPr>
          <a:xfrm xmlns:a="http://schemas.openxmlformats.org/drawingml/2006/main">
            <a:off x="4200525" y="471487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4" name="takeaway-3">
            <a:extLst xmlns:a="http://schemas.openxmlformats.org/drawingml/2006/main">
              <a:ext uri="{FF2B5EF4-FFF2-40B4-BE49-F238E27FC236}">
                <a16:creationId xmlns:a16="http://schemas.microsoft.com/office/drawing/2014/main" id="{7B6EE8FD-4F99-4C54-A820-75D7B28E5E9C}"/>
              </a:ext>
            </a:extLst>
          </p:cNvPr>
          <p:cNvSpPr>
            <a:spLocks xmlns:a="http://schemas.openxmlformats.org/drawingml/2006/main" noGrp="1"/>
          </p:cNvSpPr>
          <p:nvPr/>
        </p:nvSpPr>
        <p:spPr>
          <a:xfrm xmlns:a="http://schemas.openxmlformats.org/drawingml/2006/main">
            <a:off x="8096250" y="470535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CY25H Cordata recognised revenue was ₹11.2 Cr and exit ARR was ₹15 Cr. ARR is a point-in-time annual run rate, not revenue recognised during the year.</a:t>
            </a:r>
          </a:p>
        </p:txBody>
      </p:sp>
      <p:sp>
        <p:nvSpPr>
          <p:cNvPr id="15" name="takeaway-divider-2">
            <a:extLst xmlns:a="http://schemas.openxmlformats.org/drawingml/2006/main">
              <a:ext uri="{FF2B5EF4-FFF2-40B4-BE49-F238E27FC236}">
                <a16:creationId xmlns:a16="http://schemas.microsoft.com/office/drawing/2014/main" id="{F252B364-D31D-4B56-A8F2-41C37F2305CA}"/>
              </a:ext>
            </a:extLst>
          </p:cNvPr>
          <p:cNvSpPr>
            <a:spLocks xmlns:a="http://schemas.openxmlformats.org/drawingml/2006/main" noGrp="1"/>
          </p:cNvSpPr>
          <p:nvPr/>
        </p:nvSpPr>
        <p:spPr>
          <a:xfrm xmlns:a="http://schemas.openxmlformats.org/drawingml/2006/main">
            <a:off x="7981950" y="471487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 name="margin-assumption-note">
            <a:extLst xmlns:a="http://schemas.openxmlformats.org/drawingml/2006/main">
              <a:ext uri="{FF2B5EF4-FFF2-40B4-BE49-F238E27FC236}">
                <a16:creationId xmlns:a16="http://schemas.microsoft.com/office/drawing/2014/main" id="{17A7D244-3239-4175-A058-8F433A433019}"/>
              </a:ext>
            </a:extLst>
          </p:cNvPr>
          <p:cNvSpPr>
            <a:spLocks xmlns:a="http://schemas.openxmlformats.org/drawingml/2006/main" noGrp="1"/>
          </p:cNvSpPr>
          <p:nvPr/>
        </p:nvSpPr>
        <p:spPr>
          <a:xfrm xmlns:a="http://schemas.openxmlformats.org/drawingml/2006/main">
            <a:off x="533400" y="6257925"/>
            <a:ext cx="111252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10">
                <a:solidFill>
                  <a:srgbClr val="94A3B8"/>
                </a:solidFill>
                <a:latin typeface="Arial"/>
                <a:ea typeface="Arial"/>
                <a:cs typeface="Arial"/>
              </a:defRPr>
            </a:defPPr>
            <a:lvl1pPr algn="l">
              <a:defRPr sz="810">
                <a:solidFill>
                  <a:srgbClr val="94A3B8"/>
                </a:solidFill>
                <a:latin typeface="Arial"/>
                <a:ea typeface="Arial"/>
                <a:cs typeface="Arial"/>
              </a:defRPr>
            </a:lvl1pPr>
            <a:lvl2pPr algn="l">
              <a:defRPr sz="810">
                <a:solidFill>
                  <a:srgbClr val="94A3B8"/>
                </a:solidFill>
                <a:latin typeface="Arial"/>
                <a:ea typeface="Arial"/>
                <a:cs typeface="Arial"/>
              </a:defRPr>
            </a:lvl2pPr>
            <a:lvl3pPr algn="l">
              <a:defRPr sz="810">
                <a:solidFill>
                  <a:srgbClr val="94A3B8"/>
                </a:solidFill>
                <a:latin typeface="Arial"/>
                <a:ea typeface="Arial"/>
                <a:cs typeface="Arial"/>
              </a:defRPr>
            </a:lvl3pPr>
            <a:lvl4pPr algn="l">
              <a:defRPr sz="810">
                <a:solidFill>
                  <a:srgbClr val="94A3B8"/>
                </a:solidFill>
                <a:latin typeface="Arial"/>
                <a:ea typeface="Arial"/>
                <a:cs typeface="Arial"/>
              </a:defRPr>
            </a:lvl4pPr>
            <a:lvl5pPr algn="l">
              <a:defRPr sz="810">
                <a:solidFill>
                  <a:srgbClr val="94A3B8"/>
                </a:solidFill>
                <a:latin typeface="Arial"/>
                <a:ea typeface="Arial"/>
                <a:cs typeface="Arial"/>
              </a:defRPr>
            </a:lvl5pPr>
            <a:lvl6pPr algn="l">
              <a:defRPr sz="810">
                <a:solidFill>
                  <a:srgbClr val="94A3B8"/>
                </a:solidFill>
                <a:latin typeface="Arial"/>
                <a:ea typeface="Arial"/>
                <a:cs typeface="Arial"/>
              </a:defRPr>
            </a:lvl6pPr>
            <a:lvl7pPr algn="l">
              <a:defRPr sz="810">
                <a:solidFill>
                  <a:srgbClr val="94A3B8"/>
                </a:solidFill>
                <a:latin typeface="Arial"/>
                <a:ea typeface="Arial"/>
                <a:cs typeface="Arial"/>
              </a:defRPr>
            </a:lvl7pPr>
            <a:lvl8pPr algn="l">
              <a:defRPr sz="810">
                <a:solidFill>
                  <a:srgbClr val="94A3B8"/>
                </a:solidFill>
                <a:latin typeface="Arial"/>
                <a:ea typeface="Arial"/>
                <a:cs typeface="Arial"/>
              </a:defRPr>
            </a:lvl8pPr>
            <a:lvl9pPr algn="l">
              <a:defRPr sz="810">
                <a:solidFill>
                  <a:srgbClr val="94A3B8"/>
                </a:solidFill>
                <a:latin typeface="Arial"/>
                <a:ea typeface="Arial"/>
                <a:cs typeface="Arial"/>
              </a:defRPr>
            </a:lvl9pPr>
          </a:lstStyle>
          <a:p xmlns:a="http://schemas.openxmlformats.org/drawingml/2006/main">
            <a:pPr algn="l">
              <a:defRPr sz="810">
                <a:solidFill>
                  <a:srgbClr val="94A3B8"/>
                </a:solidFill>
                <a:latin typeface="Arial"/>
                <a:ea typeface="Arial"/>
                <a:cs typeface="Arial"/>
              </a:defRPr>
            </a:pPr>
            <a:r>
              <a:rPr sz="810">
                <a:solidFill>
                  <a:srgbClr val="94A3B8"/>
                </a:solidFill>
                <a:latin typeface="Arial"/>
                <a:ea typeface="Arial"/>
                <a:cs typeface="Arial"/>
              </a:rPr>
              <a:t>* Gross margins by stream are management allocations: services 30%–35%; Cordata 65%–78% in case history.</a:t>
            </a:r>
          </a:p>
        </p:txBody>
      </p:sp>
    </p:spTree>
    <p:extLst>
      <p:ext uri="{BB962C8B-B14F-4D97-AF65-F5344CB8AC3E}">
        <p14:creationId xmlns:p14="http://schemas.microsoft.com/office/powerpoint/2010/main" val="21236536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3-title">
            <a:extLst xmlns:a="http://schemas.openxmlformats.org/drawingml/2006/main">
              <a:ext uri="{FF2B5EF4-FFF2-40B4-BE49-F238E27FC236}">
                <a16:creationId xmlns:a16="http://schemas.microsoft.com/office/drawing/2014/main" id="{5A17C9EB-1504-4282-935F-E00F77BE4659}"/>
              </a:ext>
            </a:extLst>
          </p:cNvPr>
          <p:cNvSpPr>
            <a:spLocks xmlns:a="http://schemas.openxmlformats.org/drawingml/2006/main" noGrp="1"/>
          </p:cNvSpPr>
          <p:nvPr/>
        </p:nvSpPr>
        <p:spPr>
          <a:xfrm xmlns:a="http://schemas.openxmlformats.org/drawingml/2006/main">
            <a:off x="533400" y="3048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0F172A"/>
                </a:solidFill>
                <a:latin typeface="Arial"/>
                <a:ea typeface="Arial"/>
                <a:cs typeface="Arial"/>
              </a:defRPr>
            </a:defPPr>
            <a:lvl1pPr algn="l">
              <a:defRPr sz="2325" b="1">
                <a:solidFill>
                  <a:srgbClr val="0F172A"/>
                </a:solidFill>
                <a:latin typeface="Arial"/>
                <a:ea typeface="Arial"/>
                <a:cs typeface="Arial"/>
              </a:defRPr>
            </a:lvl1pPr>
            <a:lvl2pPr algn="l">
              <a:defRPr sz="2325" b="1">
                <a:solidFill>
                  <a:srgbClr val="0F172A"/>
                </a:solidFill>
                <a:latin typeface="Arial"/>
                <a:ea typeface="Arial"/>
                <a:cs typeface="Arial"/>
              </a:defRPr>
            </a:lvl2pPr>
            <a:lvl3pPr algn="l">
              <a:defRPr sz="2325" b="1">
                <a:solidFill>
                  <a:srgbClr val="0F172A"/>
                </a:solidFill>
                <a:latin typeface="Arial"/>
                <a:ea typeface="Arial"/>
                <a:cs typeface="Arial"/>
              </a:defRPr>
            </a:lvl3pPr>
            <a:lvl4pPr algn="l">
              <a:defRPr sz="2325" b="1">
                <a:solidFill>
                  <a:srgbClr val="0F172A"/>
                </a:solidFill>
                <a:latin typeface="Arial"/>
                <a:ea typeface="Arial"/>
                <a:cs typeface="Arial"/>
              </a:defRPr>
            </a:lvl4pPr>
            <a:lvl5pPr algn="l">
              <a:defRPr sz="2325" b="1">
                <a:solidFill>
                  <a:srgbClr val="0F172A"/>
                </a:solidFill>
                <a:latin typeface="Arial"/>
                <a:ea typeface="Arial"/>
                <a:cs typeface="Arial"/>
              </a:defRPr>
            </a:lvl5pPr>
            <a:lvl6pPr algn="l">
              <a:defRPr sz="2325" b="1">
                <a:solidFill>
                  <a:srgbClr val="0F172A"/>
                </a:solidFill>
                <a:latin typeface="Arial"/>
                <a:ea typeface="Arial"/>
                <a:cs typeface="Arial"/>
              </a:defRPr>
            </a:lvl6pPr>
            <a:lvl7pPr algn="l">
              <a:defRPr sz="2325" b="1">
                <a:solidFill>
                  <a:srgbClr val="0F172A"/>
                </a:solidFill>
                <a:latin typeface="Arial"/>
                <a:ea typeface="Arial"/>
                <a:cs typeface="Arial"/>
              </a:defRPr>
            </a:lvl7pPr>
            <a:lvl8pPr algn="l">
              <a:defRPr sz="2325" b="1">
                <a:solidFill>
                  <a:srgbClr val="0F172A"/>
                </a:solidFill>
                <a:latin typeface="Arial"/>
                <a:ea typeface="Arial"/>
                <a:cs typeface="Arial"/>
              </a:defRPr>
            </a:lvl8pPr>
            <a:lvl9pPr algn="l">
              <a:defRPr sz="2325" b="1">
                <a:solidFill>
                  <a:srgbClr val="0F172A"/>
                </a:solidFill>
                <a:latin typeface="Arial"/>
                <a:ea typeface="Arial"/>
                <a:cs typeface="Arial"/>
              </a:defRPr>
            </a:lvl9pPr>
          </a:lstStyle>
          <a:p xmlns:a="http://schemas.openxmlformats.org/drawingml/2006/main">
            <a:pPr algn="l">
              <a:lnSpc>
                <a:spcPct val="96000"/>
              </a:lnSpc>
              <a:buNone/>
              <a:defRPr sz="2325" b="1">
                <a:solidFill>
                  <a:srgbClr val="0F172A"/>
                </a:solidFill>
                <a:latin typeface="Arial"/>
                <a:ea typeface="Arial"/>
                <a:cs typeface="Arial"/>
              </a:defRPr>
            </a:pPr>
            <a:r>
              <a:rPr sz="2325" b="1">
                <a:solidFill>
                  <a:srgbClr val="0F172A"/>
                </a:solidFill>
                <a:latin typeface="Arial"/>
                <a:ea typeface="Arial"/>
                <a:cs typeface="Arial"/>
              </a:rPr>
              <a:t>Customer #1 saves ₹32L a year on a ₹6L subscription: 5.3×</a:t>
            </a:r>
          </a:p>
        </p:txBody>
      </p:sp>
      <p:sp>
        <p:nvSpPr>
          <p:cNvPr id="2" name="slide-3-accent">
            <a:extLst xmlns:a="http://schemas.openxmlformats.org/drawingml/2006/main">
              <a:ext uri="{FF2B5EF4-FFF2-40B4-BE49-F238E27FC236}">
                <a16:creationId xmlns:a16="http://schemas.microsoft.com/office/drawing/2014/main" id="{8A659204-CA56-45A9-A69B-8D6846423EEE}"/>
              </a:ext>
            </a:extLst>
          </p:cNvPr>
          <p:cNvSpPr>
            <a:spLocks xmlns:a="http://schemas.openxmlformats.org/drawingml/2006/main" noGrp="1"/>
          </p:cNvSpPr>
          <p:nvPr/>
        </p:nvSpPr>
        <p:spPr>
          <a:xfrm xmlns:a="http://schemas.openxmlformats.org/drawingml/2006/main">
            <a:off x="533400" y="1133475"/>
            <a:ext cx="647700" cy="381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 name="slide-3-footer-rule">
            <a:extLst xmlns:a="http://schemas.openxmlformats.org/drawingml/2006/main">
              <a:ext uri="{FF2B5EF4-FFF2-40B4-BE49-F238E27FC236}">
                <a16:creationId xmlns:a16="http://schemas.microsoft.com/office/drawing/2014/main" id="{30C72908-E1C7-4DB8-9239-CAF1BB5AC166}"/>
              </a:ext>
            </a:extLst>
          </p:cNvPr>
          <p:cNvSpPr>
            <a:spLocks xmlns:a="http://schemas.openxmlformats.org/drawingml/2006/main" noGrp="1"/>
          </p:cNvSpPr>
          <p:nvPr/>
        </p:nvSpPr>
        <p:spPr>
          <a:xfrm xmlns:a="http://schemas.openxmlformats.org/drawingml/2006/main">
            <a:off x="533400" y="6524625"/>
            <a:ext cx="111252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4" name="slide-3-footer">
            <a:extLst xmlns:a="http://schemas.openxmlformats.org/drawingml/2006/main">
              <a:ext uri="{FF2B5EF4-FFF2-40B4-BE49-F238E27FC236}">
                <a16:creationId xmlns:a16="http://schemas.microsoft.com/office/drawing/2014/main" id="{BB6CF93D-794E-4988-8463-079CF7A3CF29}"/>
              </a:ext>
            </a:extLst>
          </p:cNvPr>
          <p:cNvSpPr>
            <a:spLocks xmlns:a="http://schemas.openxmlformats.org/drawingml/2006/main" noGrp="1"/>
          </p:cNvSpPr>
          <p:nvPr/>
        </p:nvSpPr>
        <p:spPr>
          <a:xfrm xmlns:a="http://schemas.openxmlformats.org/drawingml/2006/main">
            <a:off x="533400" y="658177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a:solidFill>
                  <a:srgbClr val="94A3B8"/>
                </a:solidFill>
                <a:latin typeface="Arial"/>
                <a:ea typeface="Arial"/>
                <a:cs typeface="Arial"/>
              </a:defRPr>
            </a:defPPr>
            <a:lvl1pPr algn="l">
              <a:defRPr sz="825">
                <a:solidFill>
                  <a:srgbClr val="94A3B8"/>
                </a:solidFill>
                <a:latin typeface="Arial"/>
                <a:ea typeface="Arial"/>
                <a:cs typeface="Arial"/>
              </a:defRPr>
            </a:lvl1pPr>
            <a:lvl2pPr algn="l">
              <a:defRPr sz="825">
                <a:solidFill>
                  <a:srgbClr val="94A3B8"/>
                </a:solidFill>
                <a:latin typeface="Arial"/>
                <a:ea typeface="Arial"/>
                <a:cs typeface="Arial"/>
              </a:defRPr>
            </a:lvl2pPr>
            <a:lvl3pPr algn="l">
              <a:defRPr sz="825">
                <a:solidFill>
                  <a:srgbClr val="94A3B8"/>
                </a:solidFill>
                <a:latin typeface="Arial"/>
                <a:ea typeface="Arial"/>
                <a:cs typeface="Arial"/>
              </a:defRPr>
            </a:lvl3pPr>
            <a:lvl4pPr algn="l">
              <a:defRPr sz="825">
                <a:solidFill>
                  <a:srgbClr val="94A3B8"/>
                </a:solidFill>
                <a:latin typeface="Arial"/>
                <a:ea typeface="Arial"/>
                <a:cs typeface="Arial"/>
              </a:defRPr>
            </a:lvl4pPr>
            <a:lvl5pPr algn="l">
              <a:defRPr sz="825">
                <a:solidFill>
                  <a:srgbClr val="94A3B8"/>
                </a:solidFill>
                <a:latin typeface="Arial"/>
                <a:ea typeface="Arial"/>
                <a:cs typeface="Arial"/>
              </a:defRPr>
            </a:lvl5pPr>
            <a:lvl6pPr algn="l">
              <a:defRPr sz="825">
                <a:solidFill>
                  <a:srgbClr val="94A3B8"/>
                </a:solidFill>
                <a:latin typeface="Arial"/>
                <a:ea typeface="Arial"/>
                <a:cs typeface="Arial"/>
              </a:defRPr>
            </a:lvl6pPr>
            <a:lvl7pPr algn="l">
              <a:defRPr sz="825">
                <a:solidFill>
                  <a:srgbClr val="94A3B8"/>
                </a:solidFill>
                <a:latin typeface="Arial"/>
                <a:ea typeface="Arial"/>
                <a:cs typeface="Arial"/>
              </a:defRPr>
            </a:lvl7pPr>
            <a:lvl8pPr algn="l">
              <a:defRPr sz="825">
                <a:solidFill>
                  <a:srgbClr val="94A3B8"/>
                </a:solidFill>
                <a:latin typeface="Arial"/>
                <a:ea typeface="Arial"/>
                <a:cs typeface="Arial"/>
              </a:defRPr>
            </a:lvl8pPr>
            <a:lvl9pPr algn="l">
              <a:defRPr sz="825">
                <a:solidFill>
                  <a:srgbClr val="94A3B8"/>
                </a:solidFill>
                <a:latin typeface="Arial"/>
                <a:ea typeface="Arial"/>
                <a:cs typeface="Arial"/>
              </a:defRPr>
            </a:lvl9pPr>
          </a:lstStyle>
          <a:p xmlns:a="http://schemas.openxmlformats.org/drawingml/2006/main">
            <a:pPr algn="l">
              <a:defRPr sz="825">
                <a:solidFill>
                  <a:srgbClr val="94A3B8"/>
                </a:solidFill>
                <a:latin typeface="Arial"/>
                <a:ea typeface="Arial"/>
                <a:cs typeface="Arial"/>
              </a:defRPr>
            </a:pPr>
            <a:r>
              <a:rPr sz="825">
                <a:solidFill>
                  <a:srgbClr val="94A3B8"/>
                </a:solidFill>
                <a:latin typeface="Arial"/>
                <a:ea typeface="Arial"/>
                <a:cs typeface="Arial"/>
              </a:rPr>
              <a:t>Sacrum · Classroom case. H = case history, E = estimate, * = classroom assumption. All figures are illustrative. CY = calendar year.</a:t>
            </a:r>
          </a:p>
        </p:txBody>
      </p:sp>
      <p:sp>
        <p:nvSpPr>
          <p:cNvPr id="5" name="slide-3-page">
            <a:extLst xmlns:a="http://schemas.openxmlformats.org/drawingml/2006/main">
              <a:ext uri="{FF2B5EF4-FFF2-40B4-BE49-F238E27FC236}">
                <a16:creationId xmlns:a16="http://schemas.microsoft.com/office/drawing/2014/main" id="{EE97F16D-2E51-411E-A7A0-15E866E879B4}"/>
              </a:ext>
            </a:extLst>
          </p:cNvPr>
          <p:cNvSpPr>
            <a:spLocks xmlns:a="http://schemas.openxmlformats.org/drawingml/2006/main" noGrp="1"/>
          </p:cNvSpPr>
          <p:nvPr/>
        </p:nvSpPr>
        <p:spPr>
          <a:xfrm xmlns:a="http://schemas.openxmlformats.org/drawingml/2006/main">
            <a:off x="10953750" y="6581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a:solidFill>
                  <a:srgbClr val="94A3B8"/>
                </a:solidFill>
                <a:latin typeface="Arial"/>
                <a:ea typeface="Arial"/>
                <a:cs typeface="Arial"/>
              </a:defRPr>
            </a:defPPr>
            <a:lvl1pPr algn="r">
              <a:defRPr sz="825">
                <a:solidFill>
                  <a:srgbClr val="94A3B8"/>
                </a:solidFill>
                <a:latin typeface="Arial"/>
                <a:ea typeface="Arial"/>
                <a:cs typeface="Arial"/>
              </a:defRPr>
            </a:lvl1pPr>
            <a:lvl2pPr algn="r">
              <a:defRPr sz="825">
                <a:solidFill>
                  <a:srgbClr val="94A3B8"/>
                </a:solidFill>
                <a:latin typeface="Arial"/>
                <a:ea typeface="Arial"/>
                <a:cs typeface="Arial"/>
              </a:defRPr>
            </a:lvl2pPr>
            <a:lvl3pPr algn="r">
              <a:defRPr sz="825">
                <a:solidFill>
                  <a:srgbClr val="94A3B8"/>
                </a:solidFill>
                <a:latin typeface="Arial"/>
                <a:ea typeface="Arial"/>
                <a:cs typeface="Arial"/>
              </a:defRPr>
            </a:lvl3pPr>
            <a:lvl4pPr algn="r">
              <a:defRPr sz="825">
                <a:solidFill>
                  <a:srgbClr val="94A3B8"/>
                </a:solidFill>
                <a:latin typeface="Arial"/>
                <a:ea typeface="Arial"/>
                <a:cs typeface="Arial"/>
              </a:defRPr>
            </a:lvl4pPr>
            <a:lvl5pPr algn="r">
              <a:defRPr sz="825">
                <a:solidFill>
                  <a:srgbClr val="94A3B8"/>
                </a:solidFill>
                <a:latin typeface="Arial"/>
                <a:ea typeface="Arial"/>
                <a:cs typeface="Arial"/>
              </a:defRPr>
            </a:lvl5pPr>
            <a:lvl6pPr algn="r">
              <a:defRPr sz="825">
                <a:solidFill>
                  <a:srgbClr val="94A3B8"/>
                </a:solidFill>
                <a:latin typeface="Arial"/>
                <a:ea typeface="Arial"/>
                <a:cs typeface="Arial"/>
              </a:defRPr>
            </a:lvl6pPr>
            <a:lvl7pPr algn="r">
              <a:defRPr sz="825">
                <a:solidFill>
                  <a:srgbClr val="94A3B8"/>
                </a:solidFill>
                <a:latin typeface="Arial"/>
                <a:ea typeface="Arial"/>
                <a:cs typeface="Arial"/>
              </a:defRPr>
            </a:lvl7pPr>
            <a:lvl8pPr algn="r">
              <a:defRPr sz="825">
                <a:solidFill>
                  <a:srgbClr val="94A3B8"/>
                </a:solidFill>
                <a:latin typeface="Arial"/>
                <a:ea typeface="Arial"/>
                <a:cs typeface="Arial"/>
              </a:defRPr>
            </a:lvl8pPr>
            <a:lvl9pPr algn="r">
              <a:defRPr sz="825">
                <a:solidFill>
                  <a:srgbClr val="94A3B8"/>
                </a:solidFill>
                <a:latin typeface="Arial"/>
                <a:ea typeface="Arial"/>
                <a:cs typeface="Arial"/>
              </a:defRPr>
            </a:lvl9pPr>
          </a:lstStyle>
          <a:p xmlns:a="http://schemas.openxmlformats.org/drawingml/2006/main">
            <a:pPr algn="r">
              <a:defRPr sz="825">
                <a:solidFill>
                  <a:srgbClr val="94A3B8"/>
                </a:solidFill>
                <a:latin typeface="Arial"/>
                <a:ea typeface="Arial"/>
                <a:cs typeface="Arial"/>
              </a:defRPr>
            </a:pPr>
            <a:r>
              <a:rPr sz="825">
                <a:solidFill>
                  <a:srgbClr val="94A3B8"/>
                </a:solidFill>
                <a:latin typeface="Arial"/>
                <a:ea typeface="Arial"/>
                <a:cs typeface="Arial"/>
              </a:rPr>
              <a:t>3 / 5</a:t>
            </a:r>
          </a:p>
        </p:txBody>
      </p:sp>
      <p:sp>
        <p:nvSpPr>
          <p:cNvPr id="6" name="case-study-heading">
            <a:extLst xmlns:a="http://schemas.openxmlformats.org/drawingml/2006/main">
              <a:ext uri="{FF2B5EF4-FFF2-40B4-BE49-F238E27FC236}">
                <a16:creationId xmlns:a16="http://schemas.microsoft.com/office/drawing/2014/main" id="{29FB7510-C328-4B11-A3A8-715280B592DF}"/>
              </a:ext>
            </a:extLst>
          </p:cNvPr>
          <p:cNvSpPr>
            <a:spLocks xmlns:a="http://schemas.openxmlformats.org/drawingml/2006/main" noGrp="1"/>
          </p:cNvSpPr>
          <p:nvPr/>
        </p:nvSpPr>
        <p:spPr>
          <a:xfrm xmlns:a="http://schemas.openxmlformats.org/drawingml/2006/main">
            <a:off x="533400" y="1409700"/>
            <a:ext cx="521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Customer #1 case study</a:t>
            </a:r>
          </a:p>
        </p:txBody>
      </p:sp>
      <p:sp>
        <p:nvSpPr>
          <p:cNvPr id="7" name="case-study-description">
            <a:extLst xmlns:a="http://schemas.openxmlformats.org/drawingml/2006/main">
              <a:ext uri="{FF2B5EF4-FFF2-40B4-BE49-F238E27FC236}">
                <a16:creationId xmlns:a16="http://schemas.microsoft.com/office/drawing/2014/main" id="{AF42C8EA-7CAC-4CFA-AA3B-8ADC7FF33ECC}"/>
              </a:ext>
            </a:extLst>
          </p:cNvPr>
          <p:cNvSpPr>
            <a:spLocks xmlns:a="http://schemas.openxmlformats.org/drawingml/2006/main" noGrp="1"/>
          </p:cNvSpPr>
          <p:nvPr/>
        </p:nvSpPr>
        <p:spPr>
          <a:xfrm xmlns:a="http://schemas.openxmlformats.org/drawingml/2006/main">
            <a:off x="533400" y="1714500"/>
            <a:ext cx="52197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a:solidFill>
                  <a:srgbClr val="334155"/>
                </a:solidFill>
                <a:latin typeface="Arial"/>
                <a:ea typeface="Arial"/>
                <a:cs typeface="Arial"/>
              </a:defRPr>
            </a:defPPr>
            <a:lvl1pPr algn="l">
              <a:defRPr sz="1163">
                <a:solidFill>
                  <a:srgbClr val="334155"/>
                </a:solidFill>
                <a:latin typeface="Arial"/>
                <a:ea typeface="Arial"/>
                <a:cs typeface="Arial"/>
              </a:defRPr>
            </a:lvl1pPr>
            <a:lvl2pPr algn="l">
              <a:defRPr sz="1163">
                <a:solidFill>
                  <a:srgbClr val="334155"/>
                </a:solidFill>
                <a:latin typeface="Arial"/>
                <a:ea typeface="Arial"/>
                <a:cs typeface="Arial"/>
              </a:defRPr>
            </a:lvl2pPr>
            <a:lvl3pPr algn="l">
              <a:defRPr sz="1163">
                <a:solidFill>
                  <a:srgbClr val="334155"/>
                </a:solidFill>
                <a:latin typeface="Arial"/>
                <a:ea typeface="Arial"/>
                <a:cs typeface="Arial"/>
              </a:defRPr>
            </a:lvl3pPr>
            <a:lvl4pPr algn="l">
              <a:defRPr sz="1163">
                <a:solidFill>
                  <a:srgbClr val="334155"/>
                </a:solidFill>
                <a:latin typeface="Arial"/>
                <a:ea typeface="Arial"/>
                <a:cs typeface="Arial"/>
              </a:defRPr>
            </a:lvl4pPr>
            <a:lvl5pPr algn="l">
              <a:defRPr sz="1163">
                <a:solidFill>
                  <a:srgbClr val="334155"/>
                </a:solidFill>
                <a:latin typeface="Arial"/>
                <a:ea typeface="Arial"/>
                <a:cs typeface="Arial"/>
              </a:defRPr>
            </a:lvl5pPr>
            <a:lvl6pPr algn="l">
              <a:defRPr sz="1163">
                <a:solidFill>
                  <a:srgbClr val="334155"/>
                </a:solidFill>
                <a:latin typeface="Arial"/>
                <a:ea typeface="Arial"/>
                <a:cs typeface="Arial"/>
              </a:defRPr>
            </a:lvl6pPr>
            <a:lvl7pPr algn="l">
              <a:defRPr sz="1163">
                <a:solidFill>
                  <a:srgbClr val="334155"/>
                </a:solidFill>
                <a:latin typeface="Arial"/>
                <a:ea typeface="Arial"/>
                <a:cs typeface="Arial"/>
              </a:defRPr>
            </a:lvl7pPr>
            <a:lvl8pPr algn="l">
              <a:defRPr sz="1163">
                <a:solidFill>
                  <a:srgbClr val="334155"/>
                </a:solidFill>
                <a:latin typeface="Arial"/>
                <a:ea typeface="Arial"/>
                <a:cs typeface="Arial"/>
              </a:defRPr>
            </a:lvl8pPr>
            <a:lvl9pPr algn="l">
              <a:defRPr sz="1163">
                <a:solidFill>
                  <a:srgbClr val="334155"/>
                </a:solidFill>
                <a:latin typeface="Arial"/>
                <a:ea typeface="Arial"/>
                <a:cs typeface="Arial"/>
              </a:defRPr>
            </a:lvl9pPr>
          </a:lstStyle>
          <a:p xmlns:a="http://schemas.openxmlformats.org/drawingml/2006/main">
            <a:pPr algn="l">
              <a:lnSpc>
                <a:spcPct val="104000"/>
              </a:lnSpc>
              <a:buNone/>
              <a:defRPr sz="1163">
                <a:solidFill>
                  <a:srgbClr val="334155"/>
                </a:solidFill>
                <a:latin typeface="Arial"/>
                <a:ea typeface="Arial"/>
                <a:cs typeface="Arial"/>
              </a:defRPr>
            </a:pPr>
            <a:r>
              <a:rPr sz="1163">
                <a:solidFill>
                  <a:srgbClr val="334155"/>
                </a:solidFill>
                <a:latin typeface="Arial"/>
                <a:ea typeface="Arial"/>
                <a:cs typeface="Arial"/>
              </a:rPr>
              <a:t>An automotive components manufacturer used AWS and Azure with limited visibility into usage and spend. Sacrum assessed cloud costs, removed idle resources and piloted Cordata.</a:t>
            </a:r>
          </a:p>
        </p:txBody>
      </p:sp>
      <p:sp>
        <p:nvSpPr>
          <p:cNvPr id="8" name="case-savings-value">
            <a:extLst xmlns:a="http://schemas.openxmlformats.org/drawingml/2006/main">
              <a:ext uri="{FF2B5EF4-FFF2-40B4-BE49-F238E27FC236}">
                <a16:creationId xmlns:a16="http://schemas.microsoft.com/office/drawing/2014/main" id="{FCC041E8-4B82-4E8E-A121-437D292FA4B5}"/>
              </a:ext>
            </a:extLst>
          </p:cNvPr>
          <p:cNvSpPr>
            <a:spLocks xmlns:a="http://schemas.openxmlformats.org/drawingml/2006/main" noGrp="1"/>
          </p:cNvSpPr>
          <p:nvPr/>
        </p:nvSpPr>
        <p:spPr>
          <a:xfrm xmlns:a="http://schemas.openxmlformats.org/drawingml/2006/main">
            <a:off x="533400" y="26479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₹32L</a:t>
            </a:r>
          </a:p>
        </p:txBody>
      </p:sp>
      <p:sp>
        <p:nvSpPr>
          <p:cNvPr id="9" name="case-savings-label">
            <a:extLst xmlns:a="http://schemas.openxmlformats.org/drawingml/2006/main">
              <a:ext uri="{FF2B5EF4-FFF2-40B4-BE49-F238E27FC236}">
                <a16:creationId xmlns:a16="http://schemas.microsoft.com/office/drawing/2014/main" id="{89D02B89-8864-4AFB-A7CC-FA534ECA4BB1}"/>
              </a:ext>
            </a:extLst>
          </p:cNvPr>
          <p:cNvSpPr>
            <a:spLocks xmlns:a="http://schemas.openxmlformats.org/drawingml/2006/main" noGrp="1"/>
          </p:cNvSpPr>
          <p:nvPr/>
        </p:nvSpPr>
        <p:spPr>
          <a:xfrm xmlns:a="http://schemas.openxmlformats.org/drawingml/2006/main">
            <a:off x="533400" y="3133725"/>
            <a:ext cx="2381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annual cloud savings reported</a:t>
            </a:r>
          </a:p>
        </p:txBody>
      </p:sp>
      <p:sp>
        <p:nvSpPr>
          <p:cNvPr id="10" name="case-spend-value">
            <a:extLst xmlns:a="http://schemas.openxmlformats.org/drawingml/2006/main">
              <a:ext uri="{FF2B5EF4-FFF2-40B4-BE49-F238E27FC236}">
                <a16:creationId xmlns:a16="http://schemas.microsoft.com/office/drawing/2014/main" id="{9A0D83A9-3596-4D78-9A09-2520052A2946}"/>
              </a:ext>
            </a:extLst>
          </p:cNvPr>
          <p:cNvSpPr>
            <a:spLocks xmlns:a="http://schemas.openxmlformats.org/drawingml/2006/main" noGrp="1"/>
          </p:cNvSpPr>
          <p:nvPr/>
        </p:nvSpPr>
        <p:spPr>
          <a:xfrm xmlns:a="http://schemas.openxmlformats.org/drawingml/2006/main">
            <a:off x="3190875" y="26479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18%</a:t>
            </a:r>
          </a:p>
        </p:txBody>
      </p:sp>
      <p:sp>
        <p:nvSpPr>
          <p:cNvPr id="11" name="case-spend-label">
            <a:extLst xmlns:a="http://schemas.openxmlformats.org/drawingml/2006/main">
              <a:ext uri="{FF2B5EF4-FFF2-40B4-BE49-F238E27FC236}">
                <a16:creationId xmlns:a16="http://schemas.microsoft.com/office/drawing/2014/main" id="{5847B172-EC84-4202-9326-3E99C6885838}"/>
              </a:ext>
            </a:extLst>
          </p:cNvPr>
          <p:cNvSpPr>
            <a:spLocks xmlns:a="http://schemas.openxmlformats.org/drawingml/2006/main" noGrp="1"/>
          </p:cNvSpPr>
          <p:nvPr/>
        </p:nvSpPr>
        <p:spPr>
          <a:xfrm xmlns:a="http://schemas.openxmlformats.org/drawingml/2006/main">
            <a:off x="3190875" y="3133725"/>
            <a:ext cx="2381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lower cloud spend reported</a:t>
            </a:r>
          </a:p>
        </p:txBody>
      </p:sp>
      <p:sp>
        <p:nvSpPr>
          <p:cNvPr id="12" name="case-resources-value">
            <a:extLst xmlns:a="http://schemas.openxmlformats.org/drawingml/2006/main">
              <a:ext uri="{FF2B5EF4-FFF2-40B4-BE49-F238E27FC236}">
                <a16:creationId xmlns:a16="http://schemas.microsoft.com/office/drawing/2014/main" id="{09629BB9-98A9-4033-BF51-2D663129F3C5}"/>
              </a:ext>
            </a:extLst>
          </p:cNvPr>
          <p:cNvSpPr>
            <a:spLocks xmlns:a="http://schemas.openxmlformats.org/drawingml/2006/main" noGrp="1"/>
          </p:cNvSpPr>
          <p:nvPr/>
        </p:nvSpPr>
        <p:spPr>
          <a:xfrm xmlns:a="http://schemas.openxmlformats.org/drawingml/2006/main">
            <a:off x="533400" y="36766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200+</a:t>
            </a:r>
          </a:p>
        </p:txBody>
      </p:sp>
      <p:sp>
        <p:nvSpPr>
          <p:cNvPr id="13" name="case-resources-label">
            <a:extLst xmlns:a="http://schemas.openxmlformats.org/drawingml/2006/main">
              <a:ext uri="{FF2B5EF4-FFF2-40B4-BE49-F238E27FC236}">
                <a16:creationId xmlns:a16="http://schemas.microsoft.com/office/drawing/2014/main" id="{D2FD84A3-4871-4AF9-9DB8-F76451B7F51E}"/>
              </a:ext>
            </a:extLst>
          </p:cNvPr>
          <p:cNvSpPr>
            <a:spLocks xmlns:a="http://schemas.openxmlformats.org/drawingml/2006/main" noGrp="1"/>
          </p:cNvSpPr>
          <p:nvPr/>
        </p:nvSpPr>
        <p:spPr>
          <a:xfrm xmlns:a="http://schemas.openxmlformats.org/drawingml/2006/main">
            <a:off x="533400" y="4162425"/>
            <a:ext cx="2381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idle resources removed</a:t>
            </a:r>
          </a:p>
        </p:txBody>
      </p:sp>
      <p:sp>
        <p:nvSpPr>
          <p:cNvPr id="14" name="case-reporting-value">
            <a:extLst xmlns:a="http://schemas.openxmlformats.org/drawingml/2006/main">
              <a:ext uri="{FF2B5EF4-FFF2-40B4-BE49-F238E27FC236}">
                <a16:creationId xmlns:a16="http://schemas.microsoft.com/office/drawing/2014/main" id="{FAF0494B-3048-4A89-9465-E93494B88623}"/>
              </a:ext>
            </a:extLst>
          </p:cNvPr>
          <p:cNvSpPr>
            <a:spLocks xmlns:a="http://schemas.openxmlformats.org/drawingml/2006/main" noGrp="1"/>
          </p:cNvSpPr>
          <p:nvPr/>
        </p:nvSpPr>
        <p:spPr>
          <a:xfrm xmlns:a="http://schemas.openxmlformats.org/drawingml/2006/main">
            <a:off x="3190875" y="36766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75%</a:t>
            </a:r>
          </a:p>
        </p:txBody>
      </p:sp>
      <p:sp>
        <p:nvSpPr>
          <p:cNvPr id="15" name="case-reporting-label">
            <a:extLst xmlns:a="http://schemas.openxmlformats.org/drawingml/2006/main">
              <a:ext uri="{FF2B5EF4-FFF2-40B4-BE49-F238E27FC236}">
                <a16:creationId xmlns:a16="http://schemas.microsoft.com/office/drawing/2014/main" id="{01FBE7B8-B8F8-413B-80E5-7E1EEA6BFE68}"/>
              </a:ext>
            </a:extLst>
          </p:cNvPr>
          <p:cNvSpPr>
            <a:spLocks xmlns:a="http://schemas.openxmlformats.org/drawingml/2006/main" noGrp="1"/>
          </p:cNvSpPr>
          <p:nvPr/>
        </p:nvSpPr>
        <p:spPr>
          <a:xfrm xmlns:a="http://schemas.openxmlformats.org/drawingml/2006/main">
            <a:off x="3190875" y="4162425"/>
            <a:ext cx="2381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less monthly reporting effort</a:t>
            </a:r>
          </a:p>
        </p:txBody>
      </p:sp>
      <p:sp>
        <p:nvSpPr>
          <p:cNvPr id="16" name="case-study-ratio-note">
            <a:extLst xmlns:a="http://schemas.openxmlformats.org/drawingml/2006/main">
              <a:ext uri="{FF2B5EF4-FFF2-40B4-BE49-F238E27FC236}">
                <a16:creationId xmlns:a16="http://schemas.microsoft.com/office/drawing/2014/main" id="{49268CC3-5889-4BD2-9D91-0C4AE888B3C0}"/>
              </a:ext>
            </a:extLst>
          </p:cNvPr>
          <p:cNvSpPr>
            <a:spLocks xmlns:a="http://schemas.openxmlformats.org/drawingml/2006/main" noGrp="1"/>
          </p:cNvSpPr>
          <p:nvPr/>
        </p:nvSpPr>
        <p:spPr>
          <a:xfrm xmlns:a="http://schemas.openxmlformats.org/drawingml/2006/main">
            <a:off x="533400" y="4410075"/>
            <a:ext cx="521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a:solidFill>
                  <a:srgbClr val="64748B"/>
                </a:solidFill>
                <a:latin typeface="Arial"/>
                <a:ea typeface="Arial"/>
                <a:cs typeface="Arial"/>
              </a:defRPr>
            </a:defPPr>
            <a:lvl1pPr algn="l">
              <a:defRPr sz="975">
                <a:solidFill>
                  <a:srgbClr val="64748B"/>
                </a:solidFill>
                <a:latin typeface="Arial"/>
                <a:ea typeface="Arial"/>
                <a:cs typeface="Arial"/>
              </a:defRPr>
            </a:lvl1pPr>
            <a:lvl2pPr algn="l">
              <a:defRPr sz="975">
                <a:solidFill>
                  <a:srgbClr val="64748B"/>
                </a:solidFill>
                <a:latin typeface="Arial"/>
                <a:ea typeface="Arial"/>
                <a:cs typeface="Arial"/>
              </a:defRPr>
            </a:lvl2pPr>
            <a:lvl3pPr algn="l">
              <a:defRPr sz="975">
                <a:solidFill>
                  <a:srgbClr val="64748B"/>
                </a:solidFill>
                <a:latin typeface="Arial"/>
                <a:ea typeface="Arial"/>
                <a:cs typeface="Arial"/>
              </a:defRPr>
            </a:lvl3pPr>
            <a:lvl4pPr algn="l">
              <a:defRPr sz="975">
                <a:solidFill>
                  <a:srgbClr val="64748B"/>
                </a:solidFill>
                <a:latin typeface="Arial"/>
                <a:ea typeface="Arial"/>
                <a:cs typeface="Arial"/>
              </a:defRPr>
            </a:lvl4pPr>
            <a:lvl5pPr algn="l">
              <a:defRPr sz="975">
                <a:solidFill>
                  <a:srgbClr val="64748B"/>
                </a:solidFill>
                <a:latin typeface="Arial"/>
                <a:ea typeface="Arial"/>
                <a:cs typeface="Arial"/>
              </a:defRPr>
            </a:lvl5pPr>
            <a:lvl6pPr algn="l">
              <a:defRPr sz="975">
                <a:solidFill>
                  <a:srgbClr val="64748B"/>
                </a:solidFill>
                <a:latin typeface="Arial"/>
                <a:ea typeface="Arial"/>
                <a:cs typeface="Arial"/>
              </a:defRPr>
            </a:lvl6pPr>
            <a:lvl7pPr algn="l">
              <a:defRPr sz="975">
                <a:solidFill>
                  <a:srgbClr val="64748B"/>
                </a:solidFill>
                <a:latin typeface="Arial"/>
                <a:ea typeface="Arial"/>
                <a:cs typeface="Arial"/>
              </a:defRPr>
            </a:lvl7pPr>
            <a:lvl8pPr algn="l">
              <a:defRPr sz="975">
                <a:solidFill>
                  <a:srgbClr val="64748B"/>
                </a:solidFill>
                <a:latin typeface="Arial"/>
                <a:ea typeface="Arial"/>
                <a:cs typeface="Arial"/>
              </a:defRPr>
            </a:lvl8pPr>
            <a:lvl9pPr algn="l">
              <a:defRPr sz="975">
                <a:solidFill>
                  <a:srgbClr val="64748B"/>
                </a:solidFill>
                <a:latin typeface="Arial"/>
                <a:ea typeface="Arial"/>
                <a:cs typeface="Arial"/>
              </a:defRPr>
            </a:lvl9pPr>
          </a:lstStyle>
          <a:p xmlns:a="http://schemas.openxmlformats.org/drawingml/2006/main">
            <a:pPr algn="l">
              <a:lnSpc>
                <a:spcPct val="100000"/>
              </a:lnSpc>
              <a:buNone/>
              <a:defRPr sz="975">
                <a:solidFill>
                  <a:srgbClr val="64748B"/>
                </a:solidFill>
                <a:latin typeface="Arial"/>
                <a:ea typeface="Arial"/>
                <a:cs typeface="Arial"/>
              </a:defRPr>
            </a:pPr>
            <a:r>
              <a:rPr sz="975">
                <a:solidFill>
                  <a:srgbClr val="64748B"/>
                </a:solidFill>
                <a:latin typeface="Arial"/>
                <a:ea typeface="Arial"/>
                <a:cs typeface="Arial"/>
              </a:rPr>
              <a:t>Annual savings ÷ recurring subscription = 5.3×. At an even savings rate, ₹18L year-one spend is recovered in about 7 months.</a:t>
            </a:r>
          </a:p>
        </p:txBody>
      </p:sp>
      <p:sp>
        <p:nvSpPr>
          <p:cNvPr id="17" name="roi-heading">
            <a:extLst xmlns:a="http://schemas.openxmlformats.org/drawingml/2006/main">
              <a:ext uri="{FF2B5EF4-FFF2-40B4-BE49-F238E27FC236}">
                <a16:creationId xmlns:a16="http://schemas.microsoft.com/office/drawing/2014/main" id="{0E4B215E-BCFE-46D1-919C-45F8B1289CC4}"/>
              </a:ext>
            </a:extLst>
          </p:cNvPr>
          <p:cNvSpPr>
            <a:spLocks xmlns:a="http://schemas.openxmlformats.org/drawingml/2006/main" noGrp="1"/>
          </p:cNvSpPr>
          <p:nvPr/>
        </p:nvSpPr>
        <p:spPr>
          <a:xfrm xmlns:a="http://schemas.openxmlformats.org/drawingml/2006/main">
            <a:off x="6143625" y="1409700"/>
            <a:ext cx="551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Customer spend compared with annual savings (₹ lakh)</a:t>
            </a:r>
          </a:p>
        </p:txBody>
      </p:sp>
      <p:graphicFrame>
        <p:nvGraphicFramePr>
          <p:cNvPr id="18" name="Chart">
            <a:extLst xmlns:a="http://schemas.openxmlformats.org/drawingml/2006/main">
              <a:ext uri="{FF2B5EF4-FFF2-40B4-BE49-F238E27FC236}">
                <a16:creationId xmlns:a16="http://schemas.microsoft.com/office/drawing/2014/main" id="{0A7BBA2B-A076-48D7-B2E4-C77E51ED7761}"/>
              </a:ext>
            </a:extLst>
          </p:cNvPr>
          <p:cNvGraphicFramePr/>
          <p:nvPr/>
        </p:nvGraphicFramePr>
        <p:xfrm>
          <a:off xmlns:a="http://schemas.openxmlformats.org/drawingml/2006/main" x="6143625" y="1733550"/>
          <a:ext xmlns:a="http://schemas.openxmlformats.org/drawingml/2006/main" cx="5514975" cy="2857500"/>
        </p:xfrm>
        <a:graphic xmlns:a="http://schemas.openxmlformats.org/drawingml/2006/main">
          <a:graphicData uri="http://schemas.openxmlformats.org/drawingml/2006/chart">
            <c:chart xmlns:r="http://schemas.openxmlformats.org/officeDocument/2006/relationships" xmlns:c="http://schemas.openxmlformats.org/drawingml/2006/chart" r:id="R06d3ed900ff2435e"/>
          </a:graphicData>
        </a:graphic>
      </p:graphicFrame>
      <p:sp>
        <p:nvSpPr>
          <p:cNvPr id="19" name="takeaway-1">
            <a:extLst xmlns:a="http://schemas.openxmlformats.org/drawingml/2006/main">
              <a:ext uri="{FF2B5EF4-FFF2-40B4-BE49-F238E27FC236}">
                <a16:creationId xmlns:a16="http://schemas.microsoft.com/office/drawing/2014/main" id="{3E4B60C4-C3E2-418E-94D9-6D3E37ED9397}"/>
              </a:ext>
            </a:extLst>
          </p:cNvPr>
          <p:cNvSpPr>
            <a:spLocks xmlns:a="http://schemas.openxmlformats.org/drawingml/2006/main" noGrp="1"/>
          </p:cNvSpPr>
          <p:nvPr/>
        </p:nvSpPr>
        <p:spPr>
          <a:xfrm xmlns:a="http://schemas.openxmlformats.org/drawingml/2006/main">
            <a:off x="533400" y="49149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₹32L annual savings equal 5.3× the recurring ₹6L subscription fee.</a:t>
            </a:r>
          </a:p>
        </p:txBody>
      </p:sp>
      <p:sp>
        <p:nvSpPr>
          <p:cNvPr id="20" name="takeaway-2">
            <a:extLst xmlns:a="http://schemas.openxmlformats.org/drawingml/2006/main">
              <a:ext uri="{FF2B5EF4-FFF2-40B4-BE49-F238E27FC236}">
                <a16:creationId xmlns:a16="http://schemas.microsoft.com/office/drawing/2014/main" id="{E5D14D8B-AF2F-49C6-A796-5F9B1E2D0201}"/>
              </a:ext>
            </a:extLst>
          </p:cNvPr>
          <p:cNvSpPr>
            <a:spLocks xmlns:a="http://schemas.openxmlformats.org/drawingml/2006/main" noGrp="1"/>
          </p:cNvSpPr>
          <p:nvPr/>
        </p:nvSpPr>
        <p:spPr>
          <a:xfrm xmlns:a="http://schemas.openxmlformats.org/drawingml/2006/main">
            <a:off x="4314825" y="49149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Year-one spend was ₹18L, including ₹12L consulting and ₹6L subscription. First-year net savings are ₹14L if savings accrue evenly.</a:t>
            </a:r>
          </a:p>
        </p:txBody>
      </p:sp>
      <p:sp>
        <p:nvSpPr>
          <p:cNvPr id="21" name="takeaway-divider-1">
            <a:extLst xmlns:a="http://schemas.openxmlformats.org/drawingml/2006/main">
              <a:ext uri="{FF2B5EF4-FFF2-40B4-BE49-F238E27FC236}">
                <a16:creationId xmlns:a16="http://schemas.microsoft.com/office/drawing/2014/main" id="{C92D1398-CBB5-440E-BEAA-2FE606AD2351}"/>
              </a:ext>
            </a:extLst>
          </p:cNvPr>
          <p:cNvSpPr>
            <a:spLocks xmlns:a="http://schemas.openxmlformats.org/drawingml/2006/main" noGrp="1"/>
          </p:cNvSpPr>
          <p:nvPr/>
        </p:nvSpPr>
        <p:spPr>
          <a:xfrm xmlns:a="http://schemas.openxmlformats.org/drawingml/2006/main">
            <a:off x="4200525" y="492442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2" name="takeaway-3">
            <a:extLst xmlns:a="http://schemas.openxmlformats.org/drawingml/2006/main">
              <a:ext uri="{FF2B5EF4-FFF2-40B4-BE49-F238E27FC236}">
                <a16:creationId xmlns:a16="http://schemas.microsoft.com/office/drawing/2014/main" id="{179975F9-68EA-42B6-A997-0CF8F49B22C2}"/>
              </a:ext>
            </a:extLst>
          </p:cNvPr>
          <p:cNvSpPr>
            <a:spLocks xmlns:a="http://schemas.openxmlformats.org/drawingml/2006/main" noGrp="1"/>
          </p:cNvSpPr>
          <p:nvPr/>
        </p:nvSpPr>
        <p:spPr>
          <a:xfrm xmlns:a="http://schemas.openxmlformats.org/drawingml/2006/main">
            <a:off x="8096250" y="49149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140">
                <a:solidFill>
                  <a:srgbClr val="334155"/>
                </a:solidFill>
                <a:latin typeface="Arial"/>
                <a:ea typeface="Arial"/>
                <a:cs typeface="Arial"/>
              </a:defRPr>
            </a:defPPr>
            <a:lvl1pPr>
              <a:defRPr sz="1140">
                <a:solidFill>
                  <a:srgbClr val="334155"/>
                </a:solidFill>
                <a:latin typeface="Arial"/>
                <a:ea typeface="Arial"/>
                <a:cs typeface="Arial"/>
              </a:defRPr>
            </a:lvl1pPr>
            <a:lvl2pPr>
              <a:defRPr sz="1140">
                <a:solidFill>
                  <a:srgbClr val="334155"/>
                </a:solidFill>
                <a:latin typeface="Arial"/>
                <a:ea typeface="Arial"/>
                <a:cs typeface="Arial"/>
              </a:defRPr>
            </a:lvl2pPr>
            <a:lvl3pPr>
              <a:defRPr sz="1140">
                <a:solidFill>
                  <a:srgbClr val="334155"/>
                </a:solidFill>
                <a:latin typeface="Arial"/>
                <a:ea typeface="Arial"/>
                <a:cs typeface="Arial"/>
              </a:defRPr>
            </a:lvl3pPr>
            <a:lvl4pPr>
              <a:defRPr sz="1140">
                <a:solidFill>
                  <a:srgbClr val="334155"/>
                </a:solidFill>
                <a:latin typeface="Arial"/>
                <a:ea typeface="Arial"/>
                <a:cs typeface="Arial"/>
              </a:defRPr>
            </a:lvl4pPr>
            <a:lvl5pPr>
              <a:defRPr sz="1140">
                <a:solidFill>
                  <a:srgbClr val="334155"/>
                </a:solidFill>
                <a:latin typeface="Arial"/>
                <a:ea typeface="Arial"/>
                <a:cs typeface="Arial"/>
              </a:defRPr>
            </a:lvl5pPr>
            <a:lvl6pPr>
              <a:defRPr sz="1140">
                <a:solidFill>
                  <a:srgbClr val="334155"/>
                </a:solidFill>
                <a:latin typeface="Arial"/>
                <a:ea typeface="Arial"/>
                <a:cs typeface="Arial"/>
              </a:defRPr>
            </a:lvl6pPr>
            <a:lvl7pPr>
              <a:defRPr sz="1140">
                <a:solidFill>
                  <a:srgbClr val="334155"/>
                </a:solidFill>
                <a:latin typeface="Arial"/>
                <a:ea typeface="Arial"/>
                <a:cs typeface="Arial"/>
              </a:defRPr>
            </a:lvl7pPr>
            <a:lvl8pPr>
              <a:defRPr sz="1140">
                <a:solidFill>
                  <a:srgbClr val="334155"/>
                </a:solidFill>
                <a:latin typeface="Arial"/>
                <a:ea typeface="Arial"/>
                <a:cs typeface="Arial"/>
              </a:defRPr>
            </a:lvl8pPr>
            <a:lvl9pPr>
              <a:defRPr sz="114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140">
                <a:solidFill>
                  <a:srgbClr val="334155"/>
                </a:solidFill>
                <a:latin typeface="Arial"/>
                <a:ea typeface="Arial"/>
                <a:cs typeface="Arial"/>
              </a:defRPr>
            </a:pPr>
            <a:r>
              <a:rPr sz="1140">
                <a:solidFill>
                  <a:srgbClr val="334155"/>
                </a:solidFill>
                <a:latin typeface="Arial"/>
                <a:ea typeface="Arial"/>
                <a:cs typeface="Arial"/>
              </a:rPr>
              <a:t>This customer example reports 18% lower cloud spend, 200+ idle resources removed and 75% less monthly reporting effort.</a:t>
            </a:r>
          </a:p>
        </p:txBody>
      </p:sp>
      <p:sp>
        <p:nvSpPr>
          <p:cNvPr id="23" name="takeaway-divider-2">
            <a:extLst xmlns:a="http://schemas.openxmlformats.org/drawingml/2006/main">
              <a:ext uri="{FF2B5EF4-FFF2-40B4-BE49-F238E27FC236}">
                <a16:creationId xmlns:a16="http://schemas.microsoft.com/office/drawing/2014/main" id="{DFB611F0-0C5C-4797-8B48-3C9A14D63181}"/>
              </a:ext>
            </a:extLst>
          </p:cNvPr>
          <p:cNvSpPr>
            <a:spLocks xmlns:a="http://schemas.openxmlformats.org/drawingml/2006/main" noGrp="1"/>
          </p:cNvSpPr>
          <p:nvPr/>
        </p:nvSpPr>
        <p:spPr>
          <a:xfrm xmlns:a="http://schemas.openxmlformats.org/drawingml/2006/main">
            <a:off x="7981950" y="492442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Tree>
    <p:extLst>
      <p:ext uri="{BB962C8B-B14F-4D97-AF65-F5344CB8AC3E}">
        <p14:creationId xmlns:p14="http://schemas.microsoft.com/office/powerpoint/2010/main" val="1651800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4-title">
            <a:extLst xmlns:a="http://schemas.openxmlformats.org/drawingml/2006/main">
              <a:ext uri="{FF2B5EF4-FFF2-40B4-BE49-F238E27FC236}">
                <a16:creationId xmlns:a16="http://schemas.microsoft.com/office/drawing/2014/main" id="{C6193432-3EAA-4476-BA7F-1DDD851429EF}"/>
              </a:ext>
            </a:extLst>
          </p:cNvPr>
          <p:cNvSpPr>
            <a:spLocks xmlns:a="http://schemas.openxmlformats.org/drawingml/2006/main" noGrp="1"/>
          </p:cNvSpPr>
          <p:nvPr/>
        </p:nvSpPr>
        <p:spPr>
          <a:xfrm xmlns:a="http://schemas.openxmlformats.org/drawingml/2006/main">
            <a:off x="533400" y="3048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F172A"/>
                </a:solidFill>
                <a:latin typeface="Arial"/>
                <a:ea typeface="Arial"/>
                <a:cs typeface="Arial"/>
              </a:defRPr>
            </a:defPPr>
            <a:lvl1pPr algn="l">
              <a:defRPr sz="2100" b="1">
                <a:solidFill>
                  <a:srgbClr val="0F172A"/>
                </a:solidFill>
                <a:latin typeface="Arial"/>
                <a:ea typeface="Arial"/>
                <a:cs typeface="Arial"/>
              </a:defRPr>
            </a:lvl1pPr>
            <a:lvl2pPr algn="l">
              <a:defRPr sz="2100" b="1">
                <a:solidFill>
                  <a:srgbClr val="0F172A"/>
                </a:solidFill>
                <a:latin typeface="Arial"/>
                <a:ea typeface="Arial"/>
                <a:cs typeface="Arial"/>
              </a:defRPr>
            </a:lvl2pPr>
            <a:lvl3pPr algn="l">
              <a:defRPr sz="2100" b="1">
                <a:solidFill>
                  <a:srgbClr val="0F172A"/>
                </a:solidFill>
                <a:latin typeface="Arial"/>
                <a:ea typeface="Arial"/>
                <a:cs typeface="Arial"/>
              </a:defRPr>
            </a:lvl3pPr>
            <a:lvl4pPr algn="l">
              <a:defRPr sz="2100" b="1">
                <a:solidFill>
                  <a:srgbClr val="0F172A"/>
                </a:solidFill>
                <a:latin typeface="Arial"/>
                <a:ea typeface="Arial"/>
                <a:cs typeface="Arial"/>
              </a:defRPr>
            </a:lvl4pPr>
            <a:lvl5pPr algn="l">
              <a:defRPr sz="2100" b="1">
                <a:solidFill>
                  <a:srgbClr val="0F172A"/>
                </a:solidFill>
                <a:latin typeface="Arial"/>
                <a:ea typeface="Arial"/>
                <a:cs typeface="Arial"/>
              </a:defRPr>
            </a:lvl5pPr>
            <a:lvl6pPr algn="l">
              <a:defRPr sz="2100" b="1">
                <a:solidFill>
                  <a:srgbClr val="0F172A"/>
                </a:solidFill>
                <a:latin typeface="Arial"/>
                <a:ea typeface="Arial"/>
                <a:cs typeface="Arial"/>
              </a:defRPr>
            </a:lvl6pPr>
            <a:lvl7pPr algn="l">
              <a:defRPr sz="2100" b="1">
                <a:solidFill>
                  <a:srgbClr val="0F172A"/>
                </a:solidFill>
                <a:latin typeface="Arial"/>
                <a:ea typeface="Arial"/>
                <a:cs typeface="Arial"/>
              </a:defRPr>
            </a:lvl7pPr>
            <a:lvl8pPr algn="l">
              <a:defRPr sz="2100" b="1">
                <a:solidFill>
                  <a:srgbClr val="0F172A"/>
                </a:solidFill>
                <a:latin typeface="Arial"/>
                <a:ea typeface="Arial"/>
                <a:cs typeface="Arial"/>
              </a:defRPr>
            </a:lvl8pPr>
            <a:lvl9pPr algn="l">
              <a:defRPr sz="2100" b="1">
                <a:solidFill>
                  <a:srgbClr val="0F172A"/>
                </a:solidFill>
                <a:latin typeface="Arial"/>
                <a:ea typeface="Arial"/>
                <a:cs typeface="Arial"/>
              </a:defRPr>
            </a:lvl9pPr>
          </a:lstStyle>
          <a:p xmlns:a="http://schemas.openxmlformats.org/drawingml/2006/main">
            <a:pPr algn="l">
              <a:lnSpc>
                <a:spcPct val="96000"/>
              </a:lnSpc>
              <a:buNone/>
              <a:defRPr sz="2100" b="1">
                <a:solidFill>
                  <a:srgbClr val="0F172A"/>
                </a:solidFill>
                <a:latin typeface="Arial"/>
                <a:ea typeface="Arial"/>
                <a:cs typeface="Arial"/>
              </a:defRPr>
            </a:pPr>
            <a:r>
              <a:rPr sz="2100" b="1">
                <a:solidFill>
                  <a:srgbClr val="0F172A"/>
                </a:solidFill>
                <a:latin typeface="Arial"/>
                <a:ea typeface="Arial"/>
                <a:cs typeface="Arial"/>
              </a:rPr>
              <a:t>CY25H ₹32 Cr to CY28E ₹147 Cr, built from customer, contract and sales-capacity drivers</a:t>
            </a:r>
          </a:p>
        </p:txBody>
      </p:sp>
      <p:sp>
        <p:nvSpPr>
          <p:cNvPr id="2" name="slide-4-accent">
            <a:extLst xmlns:a="http://schemas.openxmlformats.org/drawingml/2006/main">
              <a:ext uri="{FF2B5EF4-FFF2-40B4-BE49-F238E27FC236}">
                <a16:creationId xmlns:a16="http://schemas.microsoft.com/office/drawing/2014/main" id="{55619C9E-7B3F-43BF-8EA3-ACB669A5034B}"/>
              </a:ext>
            </a:extLst>
          </p:cNvPr>
          <p:cNvSpPr>
            <a:spLocks xmlns:a="http://schemas.openxmlformats.org/drawingml/2006/main" noGrp="1"/>
          </p:cNvSpPr>
          <p:nvPr/>
        </p:nvSpPr>
        <p:spPr>
          <a:xfrm xmlns:a="http://schemas.openxmlformats.org/drawingml/2006/main">
            <a:off x="533400" y="1133475"/>
            <a:ext cx="647700" cy="381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 name="slide-4-footer-rule">
            <a:extLst xmlns:a="http://schemas.openxmlformats.org/drawingml/2006/main">
              <a:ext uri="{FF2B5EF4-FFF2-40B4-BE49-F238E27FC236}">
                <a16:creationId xmlns:a16="http://schemas.microsoft.com/office/drawing/2014/main" id="{8A95185F-F809-4CBD-8DC5-0C43E68E8702}"/>
              </a:ext>
            </a:extLst>
          </p:cNvPr>
          <p:cNvSpPr>
            <a:spLocks xmlns:a="http://schemas.openxmlformats.org/drawingml/2006/main" noGrp="1"/>
          </p:cNvSpPr>
          <p:nvPr/>
        </p:nvSpPr>
        <p:spPr>
          <a:xfrm xmlns:a="http://schemas.openxmlformats.org/drawingml/2006/main">
            <a:off x="533400" y="6524625"/>
            <a:ext cx="111252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4" name="slide-4-footer">
            <a:extLst xmlns:a="http://schemas.openxmlformats.org/drawingml/2006/main">
              <a:ext uri="{FF2B5EF4-FFF2-40B4-BE49-F238E27FC236}">
                <a16:creationId xmlns:a16="http://schemas.microsoft.com/office/drawing/2014/main" id="{EB2F21A7-D7EF-4693-BC09-2B6F764D4EAA}"/>
              </a:ext>
            </a:extLst>
          </p:cNvPr>
          <p:cNvSpPr>
            <a:spLocks xmlns:a="http://schemas.openxmlformats.org/drawingml/2006/main" noGrp="1"/>
          </p:cNvSpPr>
          <p:nvPr/>
        </p:nvSpPr>
        <p:spPr>
          <a:xfrm xmlns:a="http://schemas.openxmlformats.org/drawingml/2006/main">
            <a:off x="533400" y="658177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a:solidFill>
                  <a:srgbClr val="94A3B8"/>
                </a:solidFill>
                <a:latin typeface="Arial"/>
                <a:ea typeface="Arial"/>
                <a:cs typeface="Arial"/>
              </a:defRPr>
            </a:defPPr>
            <a:lvl1pPr algn="l">
              <a:defRPr sz="825">
                <a:solidFill>
                  <a:srgbClr val="94A3B8"/>
                </a:solidFill>
                <a:latin typeface="Arial"/>
                <a:ea typeface="Arial"/>
                <a:cs typeface="Arial"/>
              </a:defRPr>
            </a:lvl1pPr>
            <a:lvl2pPr algn="l">
              <a:defRPr sz="825">
                <a:solidFill>
                  <a:srgbClr val="94A3B8"/>
                </a:solidFill>
                <a:latin typeface="Arial"/>
                <a:ea typeface="Arial"/>
                <a:cs typeface="Arial"/>
              </a:defRPr>
            </a:lvl2pPr>
            <a:lvl3pPr algn="l">
              <a:defRPr sz="825">
                <a:solidFill>
                  <a:srgbClr val="94A3B8"/>
                </a:solidFill>
                <a:latin typeface="Arial"/>
                <a:ea typeface="Arial"/>
                <a:cs typeface="Arial"/>
              </a:defRPr>
            </a:lvl3pPr>
            <a:lvl4pPr algn="l">
              <a:defRPr sz="825">
                <a:solidFill>
                  <a:srgbClr val="94A3B8"/>
                </a:solidFill>
                <a:latin typeface="Arial"/>
                <a:ea typeface="Arial"/>
                <a:cs typeface="Arial"/>
              </a:defRPr>
            </a:lvl4pPr>
            <a:lvl5pPr algn="l">
              <a:defRPr sz="825">
                <a:solidFill>
                  <a:srgbClr val="94A3B8"/>
                </a:solidFill>
                <a:latin typeface="Arial"/>
                <a:ea typeface="Arial"/>
                <a:cs typeface="Arial"/>
              </a:defRPr>
            </a:lvl5pPr>
            <a:lvl6pPr algn="l">
              <a:defRPr sz="825">
                <a:solidFill>
                  <a:srgbClr val="94A3B8"/>
                </a:solidFill>
                <a:latin typeface="Arial"/>
                <a:ea typeface="Arial"/>
                <a:cs typeface="Arial"/>
              </a:defRPr>
            </a:lvl6pPr>
            <a:lvl7pPr algn="l">
              <a:defRPr sz="825">
                <a:solidFill>
                  <a:srgbClr val="94A3B8"/>
                </a:solidFill>
                <a:latin typeface="Arial"/>
                <a:ea typeface="Arial"/>
                <a:cs typeface="Arial"/>
              </a:defRPr>
            </a:lvl7pPr>
            <a:lvl8pPr algn="l">
              <a:defRPr sz="825">
                <a:solidFill>
                  <a:srgbClr val="94A3B8"/>
                </a:solidFill>
                <a:latin typeface="Arial"/>
                <a:ea typeface="Arial"/>
                <a:cs typeface="Arial"/>
              </a:defRPr>
            </a:lvl8pPr>
            <a:lvl9pPr algn="l">
              <a:defRPr sz="825">
                <a:solidFill>
                  <a:srgbClr val="94A3B8"/>
                </a:solidFill>
                <a:latin typeface="Arial"/>
                <a:ea typeface="Arial"/>
                <a:cs typeface="Arial"/>
              </a:defRPr>
            </a:lvl9pPr>
          </a:lstStyle>
          <a:p xmlns:a="http://schemas.openxmlformats.org/drawingml/2006/main">
            <a:pPr algn="l">
              <a:defRPr sz="825">
                <a:solidFill>
                  <a:srgbClr val="94A3B8"/>
                </a:solidFill>
                <a:latin typeface="Arial"/>
                <a:ea typeface="Arial"/>
                <a:cs typeface="Arial"/>
              </a:defRPr>
            </a:pPr>
            <a:r>
              <a:rPr sz="825">
                <a:solidFill>
                  <a:srgbClr val="94A3B8"/>
                </a:solidFill>
                <a:latin typeface="Arial"/>
                <a:ea typeface="Arial"/>
                <a:cs typeface="Arial"/>
              </a:rPr>
              <a:t>Sacrum · Classroom case. H = case history, E = estimate, * = classroom assumption. All figures are illustrative. CY = calendar year.</a:t>
            </a:r>
          </a:p>
        </p:txBody>
      </p:sp>
      <p:sp>
        <p:nvSpPr>
          <p:cNvPr id="5" name="slide-4-page">
            <a:extLst xmlns:a="http://schemas.openxmlformats.org/drawingml/2006/main">
              <a:ext uri="{FF2B5EF4-FFF2-40B4-BE49-F238E27FC236}">
                <a16:creationId xmlns:a16="http://schemas.microsoft.com/office/drawing/2014/main" id="{D32A4FDD-9B63-44EA-A530-2FC17B93C268}"/>
              </a:ext>
            </a:extLst>
          </p:cNvPr>
          <p:cNvSpPr>
            <a:spLocks xmlns:a="http://schemas.openxmlformats.org/drawingml/2006/main" noGrp="1"/>
          </p:cNvSpPr>
          <p:nvPr/>
        </p:nvSpPr>
        <p:spPr>
          <a:xfrm xmlns:a="http://schemas.openxmlformats.org/drawingml/2006/main">
            <a:off x="10953750" y="6581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a:solidFill>
                  <a:srgbClr val="94A3B8"/>
                </a:solidFill>
                <a:latin typeface="Arial"/>
                <a:ea typeface="Arial"/>
                <a:cs typeface="Arial"/>
              </a:defRPr>
            </a:defPPr>
            <a:lvl1pPr algn="r">
              <a:defRPr sz="825">
                <a:solidFill>
                  <a:srgbClr val="94A3B8"/>
                </a:solidFill>
                <a:latin typeface="Arial"/>
                <a:ea typeface="Arial"/>
                <a:cs typeface="Arial"/>
              </a:defRPr>
            </a:lvl1pPr>
            <a:lvl2pPr algn="r">
              <a:defRPr sz="825">
                <a:solidFill>
                  <a:srgbClr val="94A3B8"/>
                </a:solidFill>
                <a:latin typeface="Arial"/>
                <a:ea typeface="Arial"/>
                <a:cs typeface="Arial"/>
              </a:defRPr>
            </a:lvl2pPr>
            <a:lvl3pPr algn="r">
              <a:defRPr sz="825">
                <a:solidFill>
                  <a:srgbClr val="94A3B8"/>
                </a:solidFill>
                <a:latin typeface="Arial"/>
                <a:ea typeface="Arial"/>
                <a:cs typeface="Arial"/>
              </a:defRPr>
            </a:lvl3pPr>
            <a:lvl4pPr algn="r">
              <a:defRPr sz="825">
                <a:solidFill>
                  <a:srgbClr val="94A3B8"/>
                </a:solidFill>
                <a:latin typeface="Arial"/>
                <a:ea typeface="Arial"/>
                <a:cs typeface="Arial"/>
              </a:defRPr>
            </a:lvl4pPr>
            <a:lvl5pPr algn="r">
              <a:defRPr sz="825">
                <a:solidFill>
                  <a:srgbClr val="94A3B8"/>
                </a:solidFill>
                <a:latin typeface="Arial"/>
                <a:ea typeface="Arial"/>
                <a:cs typeface="Arial"/>
              </a:defRPr>
            </a:lvl5pPr>
            <a:lvl6pPr algn="r">
              <a:defRPr sz="825">
                <a:solidFill>
                  <a:srgbClr val="94A3B8"/>
                </a:solidFill>
                <a:latin typeface="Arial"/>
                <a:ea typeface="Arial"/>
                <a:cs typeface="Arial"/>
              </a:defRPr>
            </a:lvl6pPr>
            <a:lvl7pPr algn="r">
              <a:defRPr sz="825">
                <a:solidFill>
                  <a:srgbClr val="94A3B8"/>
                </a:solidFill>
                <a:latin typeface="Arial"/>
                <a:ea typeface="Arial"/>
                <a:cs typeface="Arial"/>
              </a:defRPr>
            </a:lvl7pPr>
            <a:lvl8pPr algn="r">
              <a:defRPr sz="825">
                <a:solidFill>
                  <a:srgbClr val="94A3B8"/>
                </a:solidFill>
                <a:latin typeface="Arial"/>
                <a:ea typeface="Arial"/>
                <a:cs typeface="Arial"/>
              </a:defRPr>
            </a:lvl8pPr>
            <a:lvl9pPr algn="r">
              <a:defRPr sz="825">
                <a:solidFill>
                  <a:srgbClr val="94A3B8"/>
                </a:solidFill>
                <a:latin typeface="Arial"/>
                <a:ea typeface="Arial"/>
                <a:cs typeface="Arial"/>
              </a:defRPr>
            </a:lvl9pPr>
          </a:lstStyle>
          <a:p xmlns:a="http://schemas.openxmlformats.org/drawingml/2006/main">
            <a:pPr algn="r">
              <a:defRPr sz="825">
                <a:solidFill>
                  <a:srgbClr val="94A3B8"/>
                </a:solidFill>
                <a:latin typeface="Arial"/>
                <a:ea typeface="Arial"/>
                <a:cs typeface="Arial"/>
              </a:defRPr>
            </a:pPr>
            <a:r>
              <a:rPr sz="825">
                <a:solidFill>
                  <a:srgbClr val="94A3B8"/>
                </a:solidFill>
                <a:latin typeface="Arial"/>
                <a:ea typeface="Arial"/>
                <a:cs typeface="Arial"/>
              </a:rPr>
              <a:t>4 / 5</a:t>
            </a:r>
          </a:p>
        </p:txBody>
      </p:sp>
      <p:sp>
        <p:nvSpPr>
          <p:cNvPr id="6" name="bridge-heading">
            <a:extLst xmlns:a="http://schemas.openxmlformats.org/drawingml/2006/main">
              <a:ext uri="{FF2B5EF4-FFF2-40B4-BE49-F238E27FC236}">
                <a16:creationId xmlns:a16="http://schemas.microsoft.com/office/drawing/2014/main" id="{D16FBA37-F827-4712-B208-F074E6EA50E7}"/>
              </a:ext>
            </a:extLst>
          </p:cNvPr>
          <p:cNvSpPr>
            <a:spLocks xmlns:a="http://schemas.openxmlformats.org/drawingml/2006/main" noGrp="1"/>
          </p:cNvSpPr>
          <p:nvPr/>
        </p:nvSpPr>
        <p:spPr>
          <a:xfrm xmlns:a="http://schemas.openxmlformats.org/drawingml/2006/main">
            <a:off x="533400" y="1409700"/>
            <a:ext cx="521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Revenue bridge, CY25H to CY28E (₹ Cr)</a:t>
            </a:r>
          </a:p>
        </p:txBody>
      </p:sp>
      <p:graphicFrame>
        <p:nvGraphicFramePr>
          <p:cNvPr id="7" name="Chart">
            <a:extLst xmlns:a="http://schemas.openxmlformats.org/drawingml/2006/main">
              <a:ext uri="{FF2B5EF4-FFF2-40B4-BE49-F238E27FC236}">
                <a16:creationId xmlns:a16="http://schemas.microsoft.com/office/drawing/2014/main" id="{E987AEC0-513D-43B6-A556-BE9B9D710343}"/>
              </a:ext>
            </a:extLst>
          </p:cNvPr>
          <p:cNvGraphicFramePr/>
          <p:nvPr/>
        </p:nvGraphicFramePr>
        <p:xfrm>
          <a:off xmlns:a="http://schemas.openxmlformats.org/drawingml/2006/main" x="533400" y="1695450"/>
          <a:ext xmlns:a="http://schemas.openxmlformats.org/drawingml/2006/main" cx="5219700" cy="2628900"/>
        </p:xfrm>
        <a:graphic xmlns:a="http://schemas.openxmlformats.org/drawingml/2006/main">
          <a:graphicData uri="http://schemas.openxmlformats.org/drawingml/2006/chart">
            <c:chart xmlns:r="http://schemas.openxmlformats.org/officeDocument/2006/relationships" xmlns:c="http://schemas.openxmlformats.org/drawingml/2006/chart" r:id="R71d54bd445ee4fbc"/>
          </a:graphicData>
        </a:graphic>
      </p:graphicFrame>
      <p:sp>
        <p:nvSpPr>
          <p:cNvPr id="8" name="bridge-legend-total-swatch">
            <a:extLst xmlns:a="http://schemas.openxmlformats.org/drawingml/2006/main">
              <a:ext uri="{FF2B5EF4-FFF2-40B4-BE49-F238E27FC236}">
                <a16:creationId xmlns:a16="http://schemas.microsoft.com/office/drawing/2014/main" id="{F0DECD06-1604-4E12-BA53-2196ED82419D}"/>
              </a:ext>
            </a:extLst>
          </p:cNvPr>
          <p:cNvSpPr>
            <a:spLocks xmlns:a="http://schemas.openxmlformats.org/drawingml/2006/main" noGrp="1"/>
          </p:cNvSpPr>
          <p:nvPr/>
        </p:nvSpPr>
        <p:spPr>
          <a:xfrm xmlns:a="http://schemas.openxmlformats.org/drawingml/2006/main">
            <a:off x="657225" y="4362450"/>
            <a:ext cx="123825" cy="123825"/>
          </a:xfrm>
          <a:prstGeom xmlns:a="http://schemas.openxmlformats.org/drawingml/2006/main" prst="rect">
            <a:avLst/>
          </a:prstGeom>
          <a:solidFill xmlns:a="http://schemas.openxmlformats.org/drawingml/2006/main">
            <a:srgbClr val="0F172A"/>
          </a:solidFill>
          <a:ln xmlns:a="http://schemas.openxmlformats.org/drawingml/2006/main" w="0">
            <a:solidFill>
              <a:srgbClr val="0F172A"/>
            </a:solidFill>
            <a:prstDash val="solid"/>
          </a:ln>
        </p:spPr>
      </p:sp>
      <p:sp>
        <p:nvSpPr>
          <p:cNvPr id="9" name="bridge-legend-total-label">
            <a:extLst xmlns:a="http://schemas.openxmlformats.org/drawingml/2006/main">
              <a:ext uri="{FF2B5EF4-FFF2-40B4-BE49-F238E27FC236}">
                <a16:creationId xmlns:a16="http://schemas.microsoft.com/office/drawing/2014/main" id="{CEBB8519-6F9B-47AC-9985-E72E3842489E}"/>
              </a:ext>
            </a:extLst>
          </p:cNvPr>
          <p:cNvSpPr>
            <a:spLocks xmlns:a="http://schemas.openxmlformats.org/drawingml/2006/main" noGrp="1"/>
          </p:cNvSpPr>
          <p:nvPr/>
        </p:nvSpPr>
        <p:spPr>
          <a:xfrm xmlns:a="http://schemas.openxmlformats.org/drawingml/2006/main">
            <a:off x="847725"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a:solidFill>
                  <a:srgbClr val="64748B"/>
                </a:solidFill>
                <a:latin typeface="Arial"/>
                <a:ea typeface="Arial"/>
                <a:cs typeface="Arial"/>
              </a:defRPr>
            </a:defPPr>
            <a:lvl1pPr algn="l">
              <a:defRPr sz="900">
                <a:solidFill>
                  <a:srgbClr val="64748B"/>
                </a:solidFill>
                <a:latin typeface="Arial"/>
                <a:ea typeface="Arial"/>
                <a:cs typeface="Arial"/>
              </a:defRPr>
            </a:lvl1pPr>
            <a:lvl2pPr algn="l">
              <a:defRPr sz="900">
                <a:solidFill>
                  <a:srgbClr val="64748B"/>
                </a:solidFill>
                <a:latin typeface="Arial"/>
                <a:ea typeface="Arial"/>
                <a:cs typeface="Arial"/>
              </a:defRPr>
            </a:lvl2pPr>
            <a:lvl3pPr algn="l">
              <a:defRPr sz="900">
                <a:solidFill>
                  <a:srgbClr val="64748B"/>
                </a:solidFill>
                <a:latin typeface="Arial"/>
                <a:ea typeface="Arial"/>
                <a:cs typeface="Arial"/>
              </a:defRPr>
            </a:lvl3pPr>
            <a:lvl4pPr algn="l">
              <a:defRPr sz="900">
                <a:solidFill>
                  <a:srgbClr val="64748B"/>
                </a:solidFill>
                <a:latin typeface="Arial"/>
                <a:ea typeface="Arial"/>
                <a:cs typeface="Arial"/>
              </a:defRPr>
            </a:lvl4pPr>
            <a:lvl5pPr algn="l">
              <a:defRPr sz="900">
                <a:solidFill>
                  <a:srgbClr val="64748B"/>
                </a:solidFill>
                <a:latin typeface="Arial"/>
                <a:ea typeface="Arial"/>
                <a:cs typeface="Arial"/>
              </a:defRPr>
            </a:lvl5pPr>
            <a:lvl6pPr algn="l">
              <a:defRPr sz="900">
                <a:solidFill>
                  <a:srgbClr val="64748B"/>
                </a:solidFill>
                <a:latin typeface="Arial"/>
                <a:ea typeface="Arial"/>
                <a:cs typeface="Arial"/>
              </a:defRPr>
            </a:lvl6pPr>
            <a:lvl7pPr algn="l">
              <a:defRPr sz="900">
                <a:solidFill>
                  <a:srgbClr val="64748B"/>
                </a:solidFill>
                <a:latin typeface="Arial"/>
                <a:ea typeface="Arial"/>
                <a:cs typeface="Arial"/>
              </a:defRPr>
            </a:lvl7pPr>
            <a:lvl8pPr algn="l">
              <a:defRPr sz="900">
                <a:solidFill>
                  <a:srgbClr val="64748B"/>
                </a:solidFill>
                <a:latin typeface="Arial"/>
                <a:ea typeface="Arial"/>
                <a:cs typeface="Arial"/>
              </a:defRPr>
            </a:lvl8pPr>
            <a:lvl9pPr algn="l">
              <a:defRPr sz="900">
                <a:solidFill>
                  <a:srgbClr val="64748B"/>
                </a:solidFill>
                <a:latin typeface="Arial"/>
                <a:ea typeface="Arial"/>
                <a:cs typeface="Arial"/>
              </a:defRPr>
            </a:lvl9pPr>
          </a:lstStyle>
          <a:p xmlns:a="http://schemas.openxmlformats.org/drawingml/2006/main">
            <a:pPr algn="l">
              <a:defRPr sz="900">
                <a:solidFill>
                  <a:srgbClr val="64748B"/>
                </a:solidFill>
                <a:latin typeface="Arial"/>
                <a:ea typeface="Arial"/>
                <a:cs typeface="Arial"/>
              </a:defRPr>
            </a:pPr>
            <a:r>
              <a:rPr sz="900">
                <a:solidFill>
                  <a:srgbClr val="64748B"/>
                </a:solidFill>
                <a:latin typeface="Arial"/>
                <a:ea typeface="Arial"/>
                <a:cs typeface="Arial"/>
              </a:rPr>
              <a:t>Start / end revenue</a:t>
            </a:r>
          </a:p>
        </p:txBody>
      </p:sp>
      <p:sp>
        <p:nvSpPr>
          <p:cNvPr id="10" name="bridge-legend-decrease-swatch">
            <a:extLst xmlns:a="http://schemas.openxmlformats.org/drawingml/2006/main">
              <a:ext uri="{FF2B5EF4-FFF2-40B4-BE49-F238E27FC236}">
                <a16:creationId xmlns:a16="http://schemas.microsoft.com/office/drawing/2014/main" id="{5F7EE184-BE85-45F8-A2CE-09ED94F54841}"/>
              </a:ext>
            </a:extLst>
          </p:cNvPr>
          <p:cNvSpPr>
            <a:spLocks xmlns:a="http://schemas.openxmlformats.org/drawingml/2006/main" noGrp="1"/>
          </p:cNvSpPr>
          <p:nvPr/>
        </p:nvSpPr>
        <p:spPr>
          <a:xfrm xmlns:a="http://schemas.openxmlformats.org/drawingml/2006/main">
            <a:off x="2228850" y="4362450"/>
            <a:ext cx="123825" cy="123825"/>
          </a:xfrm>
          <a:prstGeom xmlns:a="http://schemas.openxmlformats.org/drawingml/2006/main" prst="rect">
            <a:avLst/>
          </a:prstGeom>
          <a:solidFill xmlns:a="http://schemas.openxmlformats.org/drawingml/2006/main">
            <a:srgbClr val="E11D48"/>
          </a:solidFill>
          <a:ln xmlns:a="http://schemas.openxmlformats.org/drawingml/2006/main" w="0">
            <a:solidFill>
              <a:srgbClr val="E11D48"/>
            </a:solidFill>
            <a:prstDash val="solid"/>
          </a:ln>
        </p:spPr>
      </p:sp>
      <p:sp>
        <p:nvSpPr>
          <p:cNvPr id="11" name="bridge-legend-decrease-label">
            <a:extLst xmlns:a="http://schemas.openxmlformats.org/drawingml/2006/main">
              <a:ext uri="{FF2B5EF4-FFF2-40B4-BE49-F238E27FC236}">
                <a16:creationId xmlns:a16="http://schemas.microsoft.com/office/drawing/2014/main" id="{21FADDC1-DC60-4375-95FF-5037B17CD362}"/>
              </a:ext>
            </a:extLst>
          </p:cNvPr>
          <p:cNvSpPr>
            <a:spLocks xmlns:a="http://schemas.openxmlformats.org/drawingml/2006/main" noGrp="1"/>
          </p:cNvSpPr>
          <p:nvPr/>
        </p:nvSpPr>
        <p:spPr>
          <a:xfrm xmlns:a="http://schemas.openxmlformats.org/drawingml/2006/main">
            <a:off x="2419350"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a:solidFill>
                  <a:srgbClr val="64748B"/>
                </a:solidFill>
                <a:latin typeface="Arial"/>
                <a:ea typeface="Arial"/>
                <a:cs typeface="Arial"/>
              </a:defRPr>
            </a:defPPr>
            <a:lvl1pPr algn="l">
              <a:defRPr sz="900">
                <a:solidFill>
                  <a:srgbClr val="64748B"/>
                </a:solidFill>
                <a:latin typeface="Arial"/>
                <a:ea typeface="Arial"/>
                <a:cs typeface="Arial"/>
              </a:defRPr>
            </a:lvl1pPr>
            <a:lvl2pPr algn="l">
              <a:defRPr sz="900">
                <a:solidFill>
                  <a:srgbClr val="64748B"/>
                </a:solidFill>
                <a:latin typeface="Arial"/>
                <a:ea typeface="Arial"/>
                <a:cs typeface="Arial"/>
              </a:defRPr>
            </a:lvl2pPr>
            <a:lvl3pPr algn="l">
              <a:defRPr sz="900">
                <a:solidFill>
                  <a:srgbClr val="64748B"/>
                </a:solidFill>
                <a:latin typeface="Arial"/>
                <a:ea typeface="Arial"/>
                <a:cs typeface="Arial"/>
              </a:defRPr>
            </a:lvl3pPr>
            <a:lvl4pPr algn="l">
              <a:defRPr sz="900">
                <a:solidFill>
                  <a:srgbClr val="64748B"/>
                </a:solidFill>
                <a:latin typeface="Arial"/>
                <a:ea typeface="Arial"/>
                <a:cs typeface="Arial"/>
              </a:defRPr>
            </a:lvl4pPr>
            <a:lvl5pPr algn="l">
              <a:defRPr sz="900">
                <a:solidFill>
                  <a:srgbClr val="64748B"/>
                </a:solidFill>
                <a:latin typeface="Arial"/>
                <a:ea typeface="Arial"/>
                <a:cs typeface="Arial"/>
              </a:defRPr>
            </a:lvl5pPr>
            <a:lvl6pPr algn="l">
              <a:defRPr sz="900">
                <a:solidFill>
                  <a:srgbClr val="64748B"/>
                </a:solidFill>
                <a:latin typeface="Arial"/>
                <a:ea typeface="Arial"/>
                <a:cs typeface="Arial"/>
              </a:defRPr>
            </a:lvl6pPr>
            <a:lvl7pPr algn="l">
              <a:defRPr sz="900">
                <a:solidFill>
                  <a:srgbClr val="64748B"/>
                </a:solidFill>
                <a:latin typeface="Arial"/>
                <a:ea typeface="Arial"/>
                <a:cs typeface="Arial"/>
              </a:defRPr>
            </a:lvl7pPr>
            <a:lvl8pPr algn="l">
              <a:defRPr sz="900">
                <a:solidFill>
                  <a:srgbClr val="64748B"/>
                </a:solidFill>
                <a:latin typeface="Arial"/>
                <a:ea typeface="Arial"/>
                <a:cs typeface="Arial"/>
              </a:defRPr>
            </a:lvl8pPr>
            <a:lvl9pPr algn="l">
              <a:defRPr sz="900">
                <a:solidFill>
                  <a:srgbClr val="64748B"/>
                </a:solidFill>
                <a:latin typeface="Arial"/>
                <a:ea typeface="Arial"/>
                <a:cs typeface="Arial"/>
              </a:defRPr>
            </a:lvl9pPr>
          </a:lstStyle>
          <a:p xmlns:a="http://schemas.openxmlformats.org/drawingml/2006/main">
            <a:pPr algn="l">
              <a:defRPr sz="900">
                <a:solidFill>
                  <a:srgbClr val="64748B"/>
                </a:solidFill>
                <a:latin typeface="Arial"/>
                <a:ea typeface="Arial"/>
                <a:cs typeface="Arial"/>
              </a:defRPr>
            </a:pPr>
            <a:r>
              <a:rPr sz="900">
                <a:solidFill>
                  <a:srgbClr val="64748B"/>
                </a:solidFill>
                <a:latin typeface="Arial"/>
                <a:ea typeface="Arial"/>
                <a:cs typeface="Arial"/>
              </a:rPr>
              <a:t>Churn</a:t>
            </a:r>
          </a:p>
        </p:txBody>
      </p:sp>
      <p:sp>
        <p:nvSpPr>
          <p:cNvPr id="12" name="bridge-legend-increase-swatch">
            <a:extLst xmlns:a="http://schemas.openxmlformats.org/drawingml/2006/main">
              <a:ext uri="{FF2B5EF4-FFF2-40B4-BE49-F238E27FC236}">
                <a16:creationId xmlns:a16="http://schemas.microsoft.com/office/drawing/2014/main" id="{D1821586-B2E5-4EE8-80A5-DB285E618BFB}"/>
              </a:ext>
            </a:extLst>
          </p:cNvPr>
          <p:cNvSpPr>
            <a:spLocks xmlns:a="http://schemas.openxmlformats.org/drawingml/2006/main" noGrp="1"/>
          </p:cNvSpPr>
          <p:nvPr/>
        </p:nvSpPr>
        <p:spPr>
          <a:xfrm xmlns:a="http://schemas.openxmlformats.org/drawingml/2006/main">
            <a:off x="3238500" y="4362450"/>
            <a:ext cx="123825" cy="123825"/>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13" name="bridge-legend-increase-label">
            <a:extLst xmlns:a="http://schemas.openxmlformats.org/drawingml/2006/main">
              <a:ext uri="{FF2B5EF4-FFF2-40B4-BE49-F238E27FC236}">
                <a16:creationId xmlns:a16="http://schemas.microsoft.com/office/drawing/2014/main" id="{CEBDAB7A-945C-40A1-BF46-B64329B0F87D}"/>
              </a:ext>
            </a:extLst>
          </p:cNvPr>
          <p:cNvSpPr>
            <a:spLocks xmlns:a="http://schemas.openxmlformats.org/drawingml/2006/main" noGrp="1"/>
          </p:cNvSpPr>
          <p:nvPr/>
        </p:nvSpPr>
        <p:spPr>
          <a:xfrm xmlns:a="http://schemas.openxmlformats.org/drawingml/2006/main">
            <a:off x="3429000" y="4324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a:solidFill>
                  <a:srgbClr val="64748B"/>
                </a:solidFill>
                <a:latin typeface="Arial"/>
                <a:ea typeface="Arial"/>
                <a:cs typeface="Arial"/>
              </a:defRPr>
            </a:defPPr>
            <a:lvl1pPr algn="l">
              <a:defRPr sz="900">
                <a:solidFill>
                  <a:srgbClr val="64748B"/>
                </a:solidFill>
                <a:latin typeface="Arial"/>
                <a:ea typeface="Arial"/>
                <a:cs typeface="Arial"/>
              </a:defRPr>
            </a:lvl1pPr>
            <a:lvl2pPr algn="l">
              <a:defRPr sz="900">
                <a:solidFill>
                  <a:srgbClr val="64748B"/>
                </a:solidFill>
                <a:latin typeface="Arial"/>
                <a:ea typeface="Arial"/>
                <a:cs typeface="Arial"/>
              </a:defRPr>
            </a:lvl2pPr>
            <a:lvl3pPr algn="l">
              <a:defRPr sz="900">
                <a:solidFill>
                  <a:srgbClr val="64748B"/>
                </a:solidFill>
                <a:latin typeface="Arial"/>
                <a:ea typeface="Arial"/>
                <a:cs typeface="Arial"/>
              </a:defRPr>
            </a:lvl3pPr>
            <a:lvl4pPr algn="l">
              <a:defRPr sz="900">
                <a:solidFill>
                  <a:srgbClr val="64748B"/>
                </a:solidFill>
                <a:latin typeface="Arial"/>
                <a:ea typeface="Arial"/>
                <a:cs typeface="Arial"/>
              </a:defRPr>
            </a:lvl4pPr>
            <a:lvl5pPr algn="l">
              <a:defRPr sz="900">
                <a:solidFill>
                  <a:srgbClr val="64748B"/>
                </a:solidFill>
                <a:latin typeface="Arial"/>
                <a:ea typeface="Arial"/>
                <a:cs typeface="Arial"/>
              </a:defRPr>
            </a:lvl5pPr>
            <a:lvl6pPr algn="l">
              <a:defRPr sz="900">
                <a:solidFill>
                  <a:srgbClr val="64748B"/>
                </a:solidFill>
                <a:latin typeface="Arial"/>
                <a:ea typeface="Arial"/>
                <a:cs typeface="Arial"/>
              </a:defRPr>
            </a:lvl6pPr>
            <a:lvl7pPr algn="l">
              <a:defRPr sz="900">
                <a:solidFill>
                  <a:srgbClr val="64748B"/>
                </a:solidFill>
                <a:latin typeface="Arial"/>
                <a:ea typeface="Arial"/>
                <a:cs typeface="Arial"/>
              </a:defRPr>
            </a:lvl7pPr>
            <a:lvl8pPr algn="l">
              <a:defRPr sz="900">
                <a:solidFill>
                  <a:srgbClr val="64748B"/>
                </a:solidFill>
                <a:latin typeface="Arial"/>
                <a:ea typeface="Arial"/>
                <a:cs typeface="Arial"/>
              </a:defRPr>
            </a:lvl8pPr>
            <a:lvl9pPr algn="l">
              <a:defRPr sz="900">
                <a:solidFill>
                  <a:srgbClr val="64748B"/>
                </a:solidFill>
                <a:latin typeface="Arial"/>
                <a:ea typeface="Arial"/>
                <a:cs typeface="Arial"/>
              </a:defRPr>
            </a:lvl9pPr>
          </a:lstStyle>
          <a:p xmlns:a="http://schemas.openxmlformats.org/drawingml/2006/main">
            <a:pPr algn="l">
              <a:defRPr sz="900">
                <a:solidFill>
                  <a:srgbClr val="64748B"/>
                </a:solidFill>
                <a:latin typeface="Arial"/>
                <a:ea typeface="Arial"/>
                <a:cs typeface="Arial"/>
              </a:defRPr>
            </a:pPr>
            <a:r>
              <a:rPr sz="900">
                <a:solidFill>
                  <a:srgbClr val="64748B"/>
                </a:solidFill>
                <a:latin typeface="Arial"/>
                <a:ea typeface="Arial"/>
                <a:cs typeface="Arial"/>
              </a:rPr>
              <a:t>Revenue additions</a:t>
            </a:r>
          </a:p>
        </p:txBody>
      </p:sp>
      <p:sp>
        <p:nvSpPr>
          <p:cNvPr id="14" name="bridge-note">
            <a:extLst xmlns:a="http://schemas.openxmlformats.org/drawingml/2006/main">
              <a:ext uri="{FF2B5EF4-FFF2-40B4-BE49-F238E27FC236}">
                <a16:creationId xmlns:a16="http://schemas.microsoft.com/office/drawing/2014/main" id="{36DD03D1-B52A-4DFB-964E-972CAF7E08CA}"/>
              </a:ext>
            </a:extLst>
          </p:cNvPr>
          <p:cNvSpPr>
            <a:spLocks xmlns:a="http://schemas.openxmlformats.org/drawingml/2006/main" noGrp="1"/>
          </p:cNvSpPr>
          <p:nvPr/>
        </p:nvSpPr>
        <p:spPr>
          <a:xfrm xmlns:a="http://schemas.openxmlformats.org/drawingml/2006/main">
            <a:off x="533400" y="4514850"/>
            <a:ext cx="521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788">
                <a:solidFill>
                  <a:srgbClr val="94A3B8"/>
                </a:solidFill>
                <a:latin typeface="Arial"/>
                <a:ea typeface="Arial"/>
                <a:cs typeface="Arial"/>
              </a:defRPr>
            </a:defPPr>
            <a:lvl1pPr algn="ctr">
              <a:defRPr sz="788">
                <a:solidFill>
                  <a:srgbClr val="94A3B8"/>
                </a:solidFill>
                <a:latin typeface="Arial"/>
                <a:ea typeface="Arial"/>
                <a:cs typeface="Arial"/>
              </a:defRPr>
            </a:lvl1pPr>
            <a:lvl2pPr algn="ctr">
              <a:defRPr sz="788">
                <a:solidFill>
                  <a:srgbClr val="94A3B8"/>
                </a:solidFill>
                <a:latin typeface="Arial"/>
                <a:ea typeface="Arial"/>
                <a:cs typeface="Arial"/>
              </a:defRPr>
            </a:lvl2pPr>
            <a:lvl3pPr algn="ctr">
              <a:defRPr sz="788">
                <a:solidFill>
                  <a:srgbClr val="94A3B8"/>
                </a:solidFill>
                <a:latin typeface="Arial"/>
                <a:ea typeface="Arial"/>
                <a:cs typeface="Arial"/>
              </a:defRPr>
            </a:lvl3pPr>
            <a:lvl4pPr algn="ctr">
              <a:defRPr sz="788">
                <a:solidFill>
                  <a:srgbClr val="94A3B8"/>
                </a:solidFill>
                <a:latin typeface="Arial"/>
                <a:ea typeface="Arial"/>
                <a:cs typeface="Arial"/>
              </a:defRPr>
            </a:lvl4pPr>
            <a:lvl5pPr algn="ctr">
              <a:defRPr sz="788">
                <a:solidFill>
                  <a:srgbClr val="94A3B8"/>
                </a:solidFill>
                <a:latin typeface="Arial"/>
                <a:ea typeface="Arial"/>
                <a:cs typeface="Arial"/>
              </a:defRPr>
            </a:lvl5pPr>
            <a:lvl6pPr algn="ctr">
              <a:defRPr sz="788">
                <a:solidFill>
                  <a:srgbClr val="94A3B8"/>
                </a:solidFill>
                <a:latin typeface="Arial"/>
                <a:ea typeface="Arial"/>
                <a:cs typeface="Arial"/>
              </a:defRPr>
            </a:lvl6pPr>
            <a:lvl7pPr algn="ctr">
              <a:defRPr sz="788">
                <a:solidFill>
                  <a:srgbClr val="94A3B8"/>
                </a:solidFill>
                <a:latin typeface="Arial"/>
                <a:ea typeface="Arial"/>
                <a:cs typeface="Arial"/>
              </a:defRPr>
            </a:lvl7pPr>
            <a:lvl8pPr algn="ctr">
              <a:defRPr sz="788">
                <a:solidFill>
                  <a:srgbClr val="94A3B8"/>
                </a:solidFill>
                <a:latin typeface="Arial"/>
                <a:ea typeface="Arial"/>
                <a:cs typeface="Arial"/>
              </a:defRPr>
            </a:lvl8pPr>
            <a:lvl9pPr algn="ctr">
              <a:defRPr sz="788">
                <a:solidFill>
                  <a:srgbClr val="94A3B8"/>
                </a:solidFill>
                <a:latin typeface="Arial"/>
                <a:ea typeface="Arial"/>
                <a:cs typeface="Arial"/>
              </a:defRPr>
            </a:lvl9pPr>
          </a:lstStyle>
          <a:p xmlns:a="http://schemas.openxmlformats.org/drawingml/2006/main">
            <a:pPr algn="ctr">
              <a:defRPr sz="788">
                <a:solidFill>
                  <a:srgbClr val="94A3B8"/>
                </a:solidFill>
                <a:latin typeface="Arial"/>
                <a:ea typeface="Arial"/>
                <a:cs typeface="Arial"/>
              </a:defRPr>
            </a:pPr>
            <a:r>
              <a:rPr sz="788">
                <a:solidFill>
                  <a:srgbClr val="94A3B8"/>
                </a:solidFill>
                <a:latin typeface="Arial"/>
                <a:ea typeface="Arial"/>
                <a:cs typeface="Arial"/>
              </a:rPr>
              <a:t>Drivers are cumulative across CY26E–CY28E; figures rounded.</a:t>
            </a:r>
          </a:p>
        </p:txBody>
      </p:sp>
      <p:sp>
        <p:nvSpPr>
          <p:cNvPr id="15" name="drivers-heading">
            <a:extLst xmlns:a="http://schemas.openxmlformats.org/drawingml/2006/main">
              <a:ext uri="{FF2B5EF4-FFF2-40B4-BE49-F238E27FC236}">
                <a16:creationId xmlns:a16="http://schemas.microsoft.com/office/drawing/2014/main" id="{931984D7-7DFA-419A-B55E-DB54D0CEF977}"/>
              </a:ext>
            </a:extLst>
          </p:cNvPr>
          <p:cNvSpPr>
            <a:spLocks xmlns:a="http://schemas.openxmlformats.org/drawingml/2006/main" noGrp="1"/>
          </p:cNvSpPr>
          <p:nvPr/>
        </p:nvSpPr>
        <p:spPr>
          <a:xfrm xmlns:a="http://schemas.openxmlformats.org/drawingml/2006/main">
            <a:off x="6143625" y="1409700"/>
            <a:ext cx="551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Operating drivers by year; forecast values are assumptions*</a:t>
            </a:r>
          </a:p>
        </p:txBody>
      </p:sp>
      <p:graphicFrame>
        <p:nvGraphicFramePr>
          <p:cNvPr id="16" name="">
            <a:extLst xmlns:a="http://schemas.openxmlformats.org/drawingml/2006/main">
              <a:ext uri="{FF2B5EF4-FFF2-40B4-BE49-F238E27FC236}">
                <a16:creationId xmlns:a16="http://schemas.microsoft.com/office/drawing/2014/main" id="{25B2ED42-0E70-4E39-8F9A-7B6EE2ECF224}"/>
              </a:ext>
            </a:extLst>
          </p:cNvPr>
          <p:cNvGraphicFramePr/>
          <p:nvPr/>
        </p:nvGraphicFramePr>
        <p:xfrm>
          <a:off xmlns:a="http://schemas.openxmlformats.org/drawingml/2006/main" x="6143625" y="1714500"/>
          <a:ext xmlns:a="http://schemas.openxmlformats.org/drawingml/2006/main" cx="5514975" cy="2876550"/>
        </p:xfrm>
        <a:graphic xmlns:a="http://schemas.openxmlformats.org/drawingml/2006/main">
          <a:graphicData uri="http://schemas.openxmlformats.org/drawingml/2006/table">
            <a:tbl>
              <a:tblPr firstRow="1" bandRow="1"/>
              <a:tblGrid>
                <a:gridCol w="2552700"/>
                <a:gridCol w="723900"/>
                <a:gridCol w="723900"/>
                <a:gridCol w="723900"/>
                <a:gridCol w="790575"/>
              </a:tblGrid>
              <a:tr h="261505">
                <a:tc>
                  <a:txBody>
                    <a:bodyPr/>
                    <a:lstStyle/>
                    <a:p>
                      <a:pPr algn="ctr"/>
                      <a:r>
                        <a:rPr sz="900" b="1">
                          <a:solidFill>
                            <a:srgbClr val="FFFFFF"/>
                          </a:solidFill>
                          <a:latin typeface="Arial"/>
                          <a:ea typeface="Arial"/>
                          <a:cs typeface="Arial"/>
                        </a:rPr>
                        <a:t>Metric</a:t>
                      </a:r>
                    </a:p>
                  </a:txBody>
                  <a:tcPr marL="38100" marR="38100" marT="19050" marB="19050" anchor="ctr">
                    <a:lnL w="6668">
                      <a:solidFill>
                        <a:srgbClr val="E2E8F0"/>
                      </a:solidFill>
                      <a:prstDash val="solid"/>
                    </a:lnL>
                    <a:lnR w="6668">
                      <a:solidFill>
                        <a:srgbClr val="E2E8F0"/>
                      </a:solidFill>
                      <a:prstDash val="solid"/>
                    </a:lnR>
                    <a:lnT w="6668">
                      <a:solidFill>
                        <a:srgbClr val="E2E8F0"/>
                      </a:solidFill>
                      <a:prstDash val="solid"/>
                    </a:lnT>
                    <a:lnB w="6668">
                      <a:solidFill>
                        <a:srgbClr val="E2E8F0"/>
                      </a:solidFill>
                      <a:prstDash val="solid"/>
                    </a:lnB>
                    <a:solidFill>
                      <a:srgbClr val="0F172A"/>
                    </a:solidFill>
                  </a:tcPr>
                </a:tc>
                <a:tc>
                  <a:txBody>
                    <a:bodyPr/>
                    <a:lstStyle/>
                    <a:p>
                      <a:pPr algn="ctr"/>
                      <a:r>
                        <a:rPr sz="900" b="1">
                          <a:solidFill>
                            <a:srgbClr val="FFFFFF"/>
                          </a:solidFill>
                          <a:latin typeface="Arial"/>
                          <a:ea typeface="Arial"/>
                          <a:cs typeface="Arial"/>
                        </a:rPr>
                        <a:t>CY25H</a:t>
                      </a:r>
                    </a:p>
                  </a:txBody>
                  <a:tcPr marL="38100" marR="38100" marT="19050" marB="19050" anchor="ctr">
                    <a:lnR w="6668">
                      <a:solidFill>
                        <a:srgbClr val="E2E8F0"/>
                      </a:solidFill>
                      <a:prstDash val="solid"/>
                    </a:lnR>
                    <a:lnT w="6668">
                      <a:solidFill>
                        <a:srgbClr val="E2E8F0"/>
                      </a:solidFill>
                      <a:prstDash val="solid"/>
                    </a:lnT>
                    <a:lnB w="6668">
                      <a:solidFill>
                        <a:srgbClr val="E2E8F0"/>
                      </a:solidFill>
                      <a:prstDash val="solid"/>
                    </a:lnB>
                    <a:solidFill>
                      <a:srgbClr val="0F172A"/>
                    </a:solidFill>
                  </a:tcPr>
                </a:tc>
                <a:tc>
                  <a:txBody>
                    <a:bodyPr/>
                    <a:lstStyle/>
                    <a:p>
                      <a:pPr algn="ctr"/>
                      <a:r>
                        <a:rPr sz="900" b="1">
                          <a:solidFill>
                            <a:srgbClr val="FFFFFF"/>
                          </a:solidFill>
                          <a:latin typeface="Arial"/>
                          <a:ea typeface="Arial"/>
                          <a:cs typeface="Arial"/>
                        </a:rPr>
                        <a:t>CY26E</a:t>
                      </a:r>
                    </a:p>
                  </a:txBody>
                  <a:tcPr marL="38100" marR="38100" marT="19050" marB="19050" anchor="ctr">
                    <a:lnR w="6668">
                      <a:solidFill>
                        <a:srgbClr val="E2E8F0"/>
                      </a:solidFill>
                      <a:prstDash val="solid"/>
                    </a:lnR>
                    <a:lnT w="6668">
                      <a:solidFill>
                        <a:srgbClr val="E2E8F0"/>
                      </a:solidFill>
                      <a:prstDash val="solid"/>
                    </a:lnT>
                    <a:lnB w="6668">
                      <a:solidFill>
                        <a:srgbClr val="E2E8F0"/>
                      </a:solidFill>
                      <a:prstDash val="solid"/>
                    </a:lnB>
                    <a:solidFill>
                      <a:srgbClr val="0F172A"/>
                    </a:solidFill>
                  </a:tcPr>
                </a:tc>
                <a:tc>
                  <a:txBody>
                    <a:bodyPr/>
                    <a:lstStyle/>
                    <a:p>
                      <a:pPr algn="ctr"/>
                      <a:r>
                        <a:rPr sz="900" b="1">
                          <a:solidFill>
                            <a:srgbClr val="FFFFFF"/>
                          </a:solidFill>
                          <a:latin typeface="Arial"/>
                          <a:ea typeface="Arial"/>
                          <a:cs typeface="Arial"/>
                        </a:rPr>
                        <a:t>CY27E</a:t>
                      </a:r>
                    </a:p>
                  </a:txBody>
                  <a:tcPr marL="38100" marR="38100" marT="19050" marB="19050" anchor="ctr">
                    <a:lnR w="6668">
                      <a:solidFill>
                        <a:srgbClr val="E2E8F0"/>
                      </a:solidFill>
                      <a:prstDash val="solid"/>
                    </a:lnR>
                    <a:lnT w="6668">
                      <a:solidFill>
                        <a:srgbClr val="E2E8F0"/>
                      </a:solidFill>
                      <a:prstDash val="solid"/>
                    </a:lnT>
                    <a:lnB w="6668">
                      <a:solidFill>
                        <a:srgbClr val="E2E8F0"/>
                      </a:solidFill>
                      <a:prstDash val="solid"/>
                    </a:lnB>
                    <a:solidFill>
                      <a:srgbClr val="0F172A"/>
                    </a:solidFill>
                  </a:tcPr>
                </a:tc>
                <a:tc>
                  <a:txBody>
                    <a:bodyPr/>
                    <a:lstStyle/>
                    <a:p>
                      <a:pPr algn="ctr"/>
                      <a:r>
                        <a:rPr sz="900" b="1">
                          <a:solidFill>
                            <a:srgbClr val="FFFFFF"/>
                          </a:solidFill>
                          <a:latin typeface="Arial"/>
                          <a:ea typeface="Arial"/>
                          <a:cs typeface="Arial"/>
                        </a:rPr>
                        <a:t>CY28E</a:t>
                      </a:r>
                    </a:p>
                  </a:txBody>
                  <a:tcPr marL="38100" marR="38100" marT="19050" marB="19050" anchor="ctr">
                    <a:lnR w="6668">
                      <a:solidFill>
                        <a:srgbClr val="E2E8F0"/>
                      </a:solidFill>
                      <a:prstDash val="solid"/>
                    </a:lnR>
                    <a:lnT w="6668">
                      <a:solidFill>
                        <a:srgbClr val="E2E8F0"/>
                      </a:solidFill>
                      <a:prstDash val="solid"/>
                    </a:lnT>
                    <a:lnB w="6668">
                      <a:solidFill>
                        <a:srgbClr val="E2E8F0"/>
                      </a:solidFill>
                      <a:prstDash val="solid"/>
                    </a:lnB>
                    <a:solidFill>
                      <a:srgbClr val="0F172A"/>
                    </a:solidFill>
                  </a:tcPr>
                </a:tc>
              </a:tr>
              <a:tr h="261505">
                <a:tc>
                  <a:txBody>
                    <a:bodyPr/>
                    <a:lstStyle/>
                    <a:p>
                      <a:r>
                        <a:rPr sz="863" b="0">
                          <a:solidFill>
                            <a:srgbClr val="334155"/>
                          </a:solidFill>
                          <a:latin typeface="Arial"/>
                          <a:ea typeface="Arial"/>
                          <a:cs typeface="Arial"/>
                        </a:rPr>
                        <a:t>Customers, year end</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120</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154</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210</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283</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Revenue / customer (₹ L)</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26.7</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33.2</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42.3</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52.0</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New enterprise logos</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40</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60</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75</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New logo annual revenue equiv. (₹ L)</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35</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40</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45</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Qualified opportunities at 25% win rate</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160</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240</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300</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Quota-carrying reps</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5</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8</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10</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Net revenue retention</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110%</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113%</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114%</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Revenue / employee (₹ L)</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36</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38</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40</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Headcount</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95</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142</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234</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368</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r h="261505">
                <a:tc>
                  <a:txBody>
                    <a:bodyPr/>
                    <a:lstStyle/>
                    <a:p>
                      <a:r>
                        <a:rPr sz="863" b="0">
                          <a:solidFill>
                            <a:srgbClr val="334155"/>
                          </a:solidFill>
                          <a:latin typeface="Arial"/>
                          <a:ea typeface="Arial"/>
                          <a:cs typeface="Arial"/>
                        </a:rPr>
                        <a:t>Blended gross margin</a:t>
                      </a:r>
                    </a:p>
                  </a:txBody>
                  <a:tcPr marL="38100" marR="38100" marT="9525" marB="9525" anchor="ctr">
                    <a:lnL w="6668">
                      <a:solidFill>
                        <a:srgbClr val="E2E8F0"/>
                      </a:solidFill>
                      <a:prstDash val="solid"/>
                    </a:lnL>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50%</a:t>
                      </a:r>
                    </a:p>
                  </a:txBody>
                  <a:tcPr marL="38100" marR="38100" marT="9525" marB="9525" anchor="ctr">
                    <a:lnR w="6668">
                      <a:solidFill>
                        <a:srgbClr val="E2E8F0"/>
                      </a:solidFill>
                      <a:prstDash val="solid"/>
                    </a:lnR>
                    <a:lnB w="6668">
                      <a:solidFill>
                        <a:srgbClr val="E2E8F0"/>
                      </a:solidFill>
                      <a:prstDash val="solid"/>
                    </a:lnB>
                  </a:tcPr>
                </a:tc>
                <a:tc>
                  <a:txBody>
                    <a:bodyPr/>
                    <a:lstStyle/>
                    <a:p>
                      <a:r>
                        <a:rPr sz="863">
                          <a:solidFill>
                            <a:srgbClr val="334155"/>
                          </a:solidFill>
                          <a:latin typeface="Arial"/>
                          <a:ea typeface="Arial"/>
                          <a:cs typeface="Arial"/>
                        </a:rPr>
                        <a:t>53%</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58%</a:t>
                      </a:r>
                    </a:p>
                  </a:txBody>
                  <a:tcPr marL="38100" marR="38100" marT="9525" marB="9525" anchor="ctr">
                    <a:lnR w="6668">
                      <a:solidFill>
                        <a:srgbClr val="E2E8F0"/>
                      </a:solidFill>
                      <a:prstDash val="solid"/>
                    </a:lnR>
                    <a:lnB w="6668">
                      <a:solidFill>
                        <a:srgbClr val="E2E8F0"/>
                      </a:solidFill>
                      <a:prstDash val="solid"/>
                    </a:lnB>
                    <a:solidFill>
                      <a:srgbClr val="F1F5F9"/>
                    </a:solidFill>
                  </a:tcPr>
                </a:tc>
                <a:tc>
                  <a:txBody>
                    <a:bodyPr/>
                    <a:lstStyle/>
                    <a:p>
                      <a:r>
                        <a:rPr sz="863">
                          <a:solidFill>
                            <a:srgbClr val="334155"/>
                          </a:solidFill>
                          <a:latin typeface="Arial"/>
                          <a:ea typeface="Arial"/>
                          <a:cs typeface="Arial"/>
                        </a:rPr>
                        <a:t>61%</a:t>
                      </a:r>
                    </a:p>
                  </a:txBody>
                  <a:tcPr marL="38100" marR="38100" marT="9525" marB="9525" anchor="ctr">
                    <a:lnR w="6668">
                      <a:solidFill>
                        <a:srgbClr val="E2E8F0"/>
                      </a:solidFill>
                      <a:prstDash val="solid"/>
                    </a:lnR>
                    <a:lnB w="6668">
                      <a:solidFill>
                        <a:srgbClr val="E2E8F0"/>
                      </a:solidFill>
                      <a:prstDash val="solid"/>
                    </a:lnB>
                    <a:solidFill>
                      <a:srgbClr val="F1F5F9"/>
                    </a:solidFill>
                  </a:tcPr>
                </a:tc>
              </a:tr>
            </a:tbl>
          </a:graphicData>
        </a:graphic>
      </p:graphicFrame>
      <p:sp>
        <p:nvSpPr>
          <p:cNvPr id="17" name="takeaway-1">
            <a:extLst xmlns:a="http://schemas.openxmlformats.org/drawingml/2006/main">
              <a:ext uri="{FF2B5EF4-FFF2-40B4-BE49-F238E27FC236}">
                <a16:creationId xmlns:a16="http://schemas.microsoft.com/office/drawing/2014/main" id="{59851D86-4972-487B-A727-8A37A583ED88}"/>
              </a:ext>
            </a:extLst>
          </p:cNvPr>
          <p:cNvSpPr>
            <a:spLocks xmlns:a="http://schemas.openxmlformats.org/drawingml/2006/main" noGrp="1"/>
          </p:cNvSpPr>
          <p:nvPr/>
        </p:nvSpPr>
        <p:spPr>
          <a:xfrm xmlns:a="http://schemas.openxmlformats.org/drawingml/2006/main">
            <a:off x="533400" y="48006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080">
                <a:solidFill>
                  <a:srgbClr val="334155"/>
                </a:solidFill>
                <a:latin typeface="Arial"/>
                <a:ea typeface="Arial"/>
                <a:cs typeface="Arial"/>
              </a:defRPr>
            </a:defPPr>
            <a:lvl1pPr>
              <a:defRPr sz="1080">
                <a:solidFill>
                  <a:srgbClr val="334155"/>
                </a:solidFill>
                <a:latin typeface="Arial"/>
                <a:ea typeface="Arial"/>
                <a:cs typeface="Arial"/>
              </a:defRPr>
            </a:lvl1pPr>
            <a:lvl2pPr>
              <a:defRPr sz="1080">
                <a:solidFill>
                  <a:srgbClr val="334155"/>
                </a:solidFill>
                <a:latin typeface="Arial"/>
                <a:ea typeface="Arial"/>
                <a:cs typeface="Arial"/>
              </a:defRPr>
            </a:lvl2pPr>
            <a:lvl3pPr>
              <a:defRPr sz="1080">
                <a:solidFill>
                  <a:srgbClr val="334155"/>
                </a:solidFill>
                <a:latin typeface="Arial"/>
                <a:ea typeface="Arial"/>
                <a:cs typeface="Arial"/>
              </a:defRPr>
            </a:lvl3pPr>
            <a:lvl4pPr>
              <a:defRPr sz="1080">
                <a:solidFill>
                  <a:srgbClr val="334155"/>
                </a:solidFill>
                <a:latin typeface="Arial"/>
                <a:ea typeface="Arial"/>
                <a:cs typeface="Arial"/>
              </a:defRPr>
            </a:lvl4pPr>
            <a:lvl5pPr>
              <a:defRPr sz="1080">
                <a:solidFill>
                  <a:srgbClr val="334155"/>
                </a:solidFill>
                <a:latin typeface="Arial"/>
                <a:ea typeface="Arial"/>
                <a:cs typeface="Arial"/>
              </a:defRPr>
            </a:lvl5pPr>
            <a:lvl6pPr>
              <a:defRPr sz="1080">
                <a:solidFill>
                  <a:srgbClr val="334155"/>
                </a:solidFill>
                <a:latin typeface="Arial"/>
                <a:ea typeface="Arial"/>
                <a:cs typeface="Arial"/>
              </a:defRPr>
            </a:lvl6pPr>
            <a:lvl7pPr>
              <a:defRPr sz="1080">
                <a:solidFill>
                  <a:srgbClr val="334155"/>
                </a:solidFill>
                <a:latin typeface="Arial"/>
                <a:ea typeface="Arial"/>
                <a:cs typeface="Arial"/>
              </a:defRPr>
            </a:lvl7pPr>
            <a:lvl8pPr>
              <a:defRPr sz="1080">
                <a:solidFill>
                  <a:srgbClr val="334155"/>
                </a:solidFill>
                <a:latin typeface="Arial"/>
                <a:ea typeface="Arial"/>
                <a:cs typeface="Arial"/>
              </a:defRPr>
            </a:lvl8pPr>
            <a:lvl9pPr>
              <a:defRPr sz="108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080">
                <a:solidFill>
                  <a:srgbClr val="334155"/>
                </a:solidFill>
                <a:latin typeface="Arial"/>
                <a:ea typeface="Arial"/>
                <a:cs typeface="Arial"/>
              </a:defRPr>
            </a:pPr>
            <a:r>
              <a:rPr sz="1080">
                <a:solidFill>
                  <a:srgbClr val="334155"/>
                </a:solidFill>
                <a:latin typeface="Arial"/>
                <a:ea typeface="Arial"/>
                <a:cs typeface="Arial"/>
              </a:rPr>
              <a:t>Forecast revenue reaches ₹147 Cr by CY28E from ₹32 Cr in CY25H, driven by logos, expansion, PSU wins and overseas revenue assumptions.</a:t>
            </a:r>
          </a:p>
        </p:txBody>
      </p:sp>
      <p:sp>
        <p:nvSpPr>
          <p:cNvPr id="18" name="takeaway-2">
            <a:extLst xmlns:a="http://schemas.openxmlformats.org/drawingml/2006/main">
              <a:ext uri="{FF2B5EF4-FFF2-40B4-BE49-F238E27FC236}">
                <a16:creationId xmlns:a16="http://schemas.microsoft.com/office/drawing/2014/main" id="{DF9C944B-D28A-4E0C-AE7C-B5DB80A11814}"/>
              </a:ext>
            </a:extLst>
          </p:cNvPr>
          <p:cNvSpPr>
            <a:spLocks xmlns:a="http://schemas.openxmlformats.org/drawingml/2006/main" noGrp="1"/>
          </p:cNvSpPr>
          <p:nvPr/>
        </p:nvSpPr>
        <p:spPr>
          <a:xfrm xmlns:a="http://schemas.openxmlformats.org/drawingml/2006/main">
            <a:off x="4314825" y="48006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080">
                <a:solidFill>
                  <a:srgbClr val="334155"/>
                </a:solidFill>
                <a:latin typeface="Arial"/>
                <a:ea typeface="Arial"/>
                <a:cs typeface="Arial"/>
              </a:defRPr>
            </a:defPPr>
            <a:lvl1pPr>
              <a:defRPr sz="1080">
                <a:solidFill>
                  <a:srgbClr val="334155"/>
                </a:solidFill>
                <a:latin typeface="Arial"/>
                <a:ea typeface="Arial"/>
                <a:cs typeface="Arial"/>
              </a:defRPr>
            </a:lvl1pPr>
            <a:lvl2pPr>
              <a:defRPr sz="1080">
                <a:solidFill>
                  <a:srgbClr val="334155"/>
                </a:solidFill>
                <a:latin typeface="Arial"/>
                <a:ea typeface="Arial"/>
                <a:cs typeface="Arial"/>
              </a:defRPr>
            </a:lvl2pPr>
            <a:lvl3pPr>
              <a:defRPr sz="1080">
                <a:solidFill>
                  <a:srgbClr val="334155"/>
                </a:solidFill>
                <a:latin typeface="Arial"/>
                <a:ea typeface="Arial"/>
                <a:cs typeface="Arial"/>
              </a:defRPr>
            </a:lvl3pPr>
            <a:lvl4pPr>
              <a:defRPr sz="1080">
                <a:solidFill>
                  <a:srgbClr val="334155"/>
                </a:solidFill>
                <a:latin typeface="Arial"/>
                <a:ea typeface="Arial"/>
                <a:cs typeface="Arial"/>
              </a:defRPr>
            </a:lvl4pPr>
            <a:lvl5pPr>
              <a:defRPr sz="1080">
                <a:solidFill>
                  <a:srgbClr val="334155"/>
                </a:solidFill>
                <a:latin typeface="Arial"/>
                <a:ea typeface="Arial"/>
                <a:cs typeface="Arial"/>
              </a:defRPr>
            </a:lvl5pPr>
            <a:lvl6pPr>
              <a:defRPr sz="1080">
                <a:solidFill>
                  <a:srgbClr val="334155"/>
                </a:solidFill>
                <a:latin typeface="Arial"/>
                <a:ea typeface="Arial"/>
                <a:cs typeface="Arial"/>
              </a:defRPr>
            </a:lvl6pPr>
            <a:lvl7pPr>
              <a:defRPr sz="1080">
                <a:solidFill>
                  <a:srgbClr val="334155"/>
                </a:solidFill>
                <a:latin typeface="Arial"/>
                <a:ea typeface="Arial"/>
                <a:cs typeface="Arial"/>
              </a:defRPr>
            </a:lvl7pPr>
            <a:lvl8pPr>
              <a:defRPr sz="1080">
                <a:solidFill>
                  <a:srgbClr val="334155"/>
                </a:solidFill>
                <a:latin typeface="Arial"/>
                <a:ea typeface="Arial"/>
                <a:cs typeface="Arial"/>
              </a:defRPr>
            </a:lvl8pPr>
            <a:lvl9pPr>
              <a:defRPr sz="108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080">
                <a:solidFill>
                  <a:srgbClr val="334155"/>
                </a:solidFill>
                <a:latin typeface="Arial"/>
                <a:ea typeface="Arial"/>
                <a:cs typeface="Arial"/>
              </a:defRPr>
            </a:pPr>
            <a:r>
              <a:rPr sz="1080">
                <a:solidFill>
                  <a:srgbClr val="334155"/>
                </a:solidFill>
                <a:latin typeface="Arial"/>
                <a:ea typeface="Arial"/>
                <a:cs typeface="Arial"/>
              </a:rPr>
              <a:t>The model requires 40, 60 and 75 new enterprise logos in CY26E–CY28E. At a 25% win rate, that implies 160, 240 and 300 qualified opportunities.</a:t>
            </a:r>
          </a:p>
        </p:txBody>
      </p:sp>
      <p:sp>
        <p:nvSpPr>
          <p:cNvPr id="19" name="takeaway-divider-1">
            <a:extLst xmlns:a="http://schemas.openxmlformats.org/drawingml/2006/main">
              <a:ext uri="{FF2B5EF4-FFF2-40B4-BE49-F238E27FC236}">
                <a16:creationId xmlns:a16="http://schemas.microsoft.com/office/drawing/2014/main" id="{0123167C-F550-40B3-8CAD-99E56FAB7EB3}"/>
              </a:ext>
            </a:extLst>
          </p:cNvPr>
          <p:cNvSpPr>
            <a:spLocks xmlns:a="http://schemas.openxmlformats.org/drawingml/2006/main" noGrp="1"/>
          </p:cNvSpPr>
          <p:nvPr/>
        </p:nvSpPr>
        <p:spPr>
          <a:xfrm xmlns:a="http://schemas.openxmlformats.org/drawingml/2006/main">
            <a:off x="4200525" y="481012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0" name="takeaway-3">
            <a:extLst xmlns:a="http://schemas.openxmlformats.org/drawingml/2006/main">
              <a:ext uri="{FF2B5EF4-FFF2-40B4-BE49-F238E27FC236}">
                <a16:creationId xmlns:a16="http://schemas.microsoft.com/office/drawing/2014/main" id="{92F05FD6-DF9B-436C-B966-C009160A8515}"/>
              </a:ext>
            </a:extLst>
          </p:cNvPr>
          <p:cNvSpPr>
            <a:spLocks xmlns:a="http://schemas.openxmlformats.org/drawingml/2006/main" noGrp="1"/>
          </p:cNvSpPr>
          <p:nvPr/>
        </p:nvSpPr>
        <p:spPr>
          <a:xfrm xmlns:a="http://schemas.openxmlformats.org/drawingml/2006/main">
            <a:off x="8096250" y="48006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080">
                <a:solidFill>
                  <a:srgbClr val="334155"/>
                </a:solidFill>
                <a:latin typeface="Arial"/>
                <a:ea typeface="Arial"/>
                <a:cs typeface="Arial"/>
              </a:defRPr>
            </a:defPPr>
            <a:lvl1pPr>
              <a:defRPr sz="1080">
                <a:solidFill>
                  <a:srgbClr val="334155"/>
                </a:solidFill>
                <a:latin typeface="Arial"/>
                <a:ea typeface="Arial"/>
                <a:cs typeface="Arial"/>
              </a:defRPr>
            </a:lvl1pPr>
            <a:lvl2pPr>
              <a:defRPr sz="1080">
                <a:solidFill>
                  <a:srgbClr val="334155"/>
                </a:solidFill>
                <a:latin typeface="Arial"/>
                <a:ea typeface="Arial"/>
                <a:cs typeface="Arial"/>
              </a:defRPr>
            </a:lvl2pPr>
            <a:lvl3pPr>
              <a:defRPr sz="1080">
                <a:solidFill>
                  <a:srgbClr val="334155"/>
                </a:solidFill>
                <a:latin typeface="Arial"/>
                <a:ea typeface="Arial"/>
                <a:cs typeface="Arial"/>
              </a:defRPr>
            </a:lvl3pPr>
            <a:lvl4pPr>
              <a:defRPr sz="1080">
                <a:solidFill>
                  <a:srgbClr val="334155"/>
                </a:solidFill>
                <a:latin typeface="Arial"/>
                <a:ea typeface="Arial"/>
                <a:cs typeface="Arial"/>
              </a:defRPr>
            </a:lvl4pPr>
            <a:lvl5pPr>
              <a:defRPr sz="1080">
                <a:solidFill>
                  <a:srgbClr val="334155"/>
                </a:solidFill>
                <a:latin typeface="Arial"/>
                <a:ea typeface="Arial"/>
                <a:cs typeface="Arial"/>
              </a:defRPr>
            </a:lvl5pPr>
            <a:lvl6pPr>
              <a:defRPr sz="1080">
                <a:solidFill>
                  <a:srgbClr val="334155"/>
                </a:solidFill>
                <a:latin typeface="Arial"/>
                <a:ea typeface="Arial"/>
                <a:cs typeface="Arial"/>
              </a:defRPr>
            </a:lvl6pPr>
            <a:lvl7pPr>
              <a:defRPr sz="1080">
                <a:solidFill>
                  <a:srgbClr val="334155"/>
                </a:solidFill>
                <a:latin typeface="Arial"/>
                <a:ea typeface="Arial"/>
                <a:cs typeface="Arial"/>
              </a:defRPr>
            </a:lvl7pPr>
            <a:lvl8pPr>
              <a:defRPr sz="1080">
                <a:solidFill>
                  <a:srgbClr val="334155"/>
                </a:solidFill>
                <a:latin typeface="Arial"/>
                <a:ea typeface="Arial"/>
                <a:cs typeface="Arial"/>
              </a:defRPr>
            </a:lvl8pPr>
            <a:lvl9pPr>
              <a:defRPr sz="108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080">
                <a:solidFill>
                  <a:srgbClr val="334155"/>
                </a:solidFill>
                <a:latin typeface="Arial"/>
                <a:ea typeface="Arial"/>
                <a:cs typeface="Arial"/>
              </a:defRPr>
            </a:pPr>
            <a:r>
              <a:rPr sz="1080">
                <a:solidFill>
                  <a:srgbClr val="334155"/>
                </a:solidFill>
                <a:latin typeface="Arial"/>
                <a:ea typeface="Arial"/>
                <a:cs typeface="Arial"/>
              </a:rPr>
              <a:t>The ONGC contract assumption is ₹3.5 Cr over three years, or ₹1.17 Cr annually. Only amounts recognised in each period count as revenue.</a:t>
            </a:r>
          </a:p>
        </p:txBody>
      </p:sp>
      <p:sp>
        <p:nvSpPr>
          <p:cNvPr id="21" name="takeaway-divider-2">
            <a:extLst xmlns:a="http://schemas.openxmlformats.org/drawingml/2006/main">
              <a:ext uri="{FF2B5EF4-FFF2-40B4-BE49-F238E27FC236}">
                <a16:creationId xmlns:a16="http://schemas.microsoft.com/office/drawing/2014/main" id="{23BA5792-371A-4BA0-9CFA-961F99623CBA}"/>
              </a:ext>
            </a:extLst>
          </p:cNvPr>
          <p:cNvSpPr>
            <a:spLocks xmlns:a="http://schemas.openxmlformats.org/drawingml/2006/main" noGrp="1"/>
          </p:cNvSpPr>
          <p:nvPr/>
        </p:nvSpPr>
        <p:spPr>
          <a:xfrm xmlns:a="http://schemas.openxmlformats.org/drawingml/2006/main">
            <a:off x="7981950" y="481012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Tree>
    <p:extLst>
      <p:ext uri="{BB962C8B-B14F-4D97-AF65-F5344CB8AC3E}">
        <p14:creationId xmlns:p14="http://schemas.microsoft.com/office/powerpoint/2010/main" val="8332491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slide-5-title">
            <a:extLst xmlns:a="http://schemas.openxmlformats.org/drawingml/2006/main">
              <a:ext uri="{FF2B5EF4-FFF2-40B4-BE49-F238E27FC236}">
                <a16:creationId xmlns:a16="http://schemas.microsoft.com/office/drawing/2014/main" id="{4F92F306-FD00-4FA6-AF92-23F3713BCCE5}"/>
              </a:ext>
            </a:extLst>
          </p:cNvPr>
          <p:cNvSpPr>
            <a:spLocks xmlns:a="http://schemas.openxmlformats.org/drawingml/2006/main" noGrp="1"/>
          </p:cNvSpPr>
          <p:nvPr/>
        </p:nvSpPr>
        <p:spPr>
          <a:xfrm xmlns:a="http://schemas.openxmlformats.org/drawingml/2006/main">
            <a:off x="533400" y="30480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F172A"/>
                </a:solidFill>
                <a:latin typeface="Arial"/>
                <a:ea typeface="Arial"/>
                <a:cs typeface="Arial"/>
              </a:defRPr>
            </a:defPPr>
            <a:lvl1pPr algn="l">
              <a:defRPr sz="2100" b="1">
                <a:solidFill>
                  <a:srgbClr val="0F172A"/>
                </a:solidFill>
                <a:latin typeface="Arial"/>
                <a:ea typeface="Arial"/>
                <a:cs typeface="Arial"/>
              </a:defRPr>
            </a:lvl1pPr>
            <a:lvl2pPr algn="l">
              <a:defRPr sz="2100" b="1">
                <a:solidFill>
                  <a:srgbClr val="0F172A"/>
                </a:solidFill>
                <a:latin typeface="Arial"/>
                <a:ea typeface="Arial"/>
                <a:cs typeface="Arial"/>
              </a:defRPr>
            </a:lvl2pPr>
            <a:lvl3pPr algn="l">
              <a:defRPr sz="2100" b="1">
                <a:solidFill>
                  <a:srgbClr val="0F172A"/>
                </a:solidFill>
                <a:latin typeface="Arial"/>
                <a:ea typeface="Arial"/>
                <a:cs typeface="Arial"/>
              </a:defRPr>
            </a:lvl3pPr>
            <a:lvl4pPr algn="l">
              <a:defRPr sz="2100" b="1">
                <a:solidFill>
                  <a:srgbClr val="0F172A"/>
                </a:solidFill>
                <a:latin typeface="Arial"/>
                <a:ea typeface="Arial"/>
                <a:cs typeface="Arial"/>
              </a:defRPr>
            </a:lvl4pPr>
            <a:lvl5pPr algn="l">
              <a:defRPr sz="2100" b="1">
                <a:solidFill>
                  <a:srgbClr val="0F172A"/>
                </a:solidFill>
                <a:latin typeface="Arial"/>
                <a:ea typeface="Arial"/>
                <a:cs typeface="Arial"/>
              </a:defRPr>
            </a:lvl5pPr>
            <a:lvl6pPr algn="l">
              <a:defRPr sz="2100" b="1">
                <a:solidFill>
                  <a:srgbClr val="0F172A"/>
                </a:solidFill>
                <a:latin typeface="Arial"/>
                <a:ea typeface="Arial"/>
                <a:cs typeface="Arial"/>
              </a:defRPr>
            </a:lvl6pPr>
            <a:lvl7pPr algn="l">
              <a:defRPr sz="2100" b="1">
                <a:solidFill>
                  <a:srgbClr val="0F172A"/>
                </a:solidFill>
                <a:latin typeface="Arial"/>
                <a:ea typeface="Arial"/>
                <a:cs typeface="Arial"/>
              </a:defRPr>
            </a:lvl7pPr>
            <a:lvl8pPr algn="l">
              <a:defRPr sz="2100" b="1">
                <a:solidFill>
                  <a:srgbClr val="0F172A"/>
                </a:solidFill>
                <a:latin typeface="Arial"/>
                <a:ea typeface="Arial"/>
                <a:cs typeface="Arial"/>
              </a:defRPr>
            </a:lvl8pPr>
            <a:lvl9pPr algn="l">
              <a:defRPr sz="2100" b="1">
                <a:solidFill>
                  <a:srgbClr val="0F172A"/>
                </a:solidFill>
                <a:latin typeface="Arial"/>
                <a:ea typeface="Arial"/>
                <a:cs typeface="Arial"/>
              </a:defRPr>
            </a:lvl9pPr>
          </a:lstStyle>
          <a:p xmlns:a="http://schemas.openxmlformats.org/drawingml/2006/main">
            <a:pPr algn="l">
              <a:lnSpc>
                <a:spcPct val="96000"/>
              </a:lnSpc>
              <a:buNone/>
              <a:defRPr sz="2100" b="1">
                <a:solidFill>
                  <a:srgbClr val="0F172A"/>
                </a:solidFill>
                <a:latin typeface="Arial"/>
                <a:ea typeface="Arial"/>
                <a:cs typeface="Arial"/>
              </a:defRPr>
            </a:pPr>
            <a:r>
              <a:rPr sz="2100" b="1">
                <a:solidFill>
                  <a:srgbClr val="0F172A"/>
                </a:solidFill>
                <a:latin typeface="Arial"/>
                <a:ea typeface="Arial"/>
                <a:cs typeface="Arial"/>
              </a:rPr>
              <a:t>₹25 Cr supports a 24-month expansion plan; forecast EBITDA stays positive*</a:t>
            </a:r>
          </a:p>
        </p:txBody>
      </p:sp>
      <p:sp>
        <p:nvSpPr>
          <p:cNvPr id="2" name="slide-5-accent">
            <a:extLst xmlns:a="http://schemas.openxmlformats.org/drawingml/2006/main">
              <a:ext uri="{FF2B5EF4-FFF2-40B4-BE49-F238E27FC236}">
                <a16:creationId xmlns:a16="http://schemas.microsoft.com/office/drawing/2014/main" id="{3DA07CBD-876B-4EAE-B46E-DEB3E7EEF5FC}"/>
              </a:ext>
            </a:extLst>
          </p:cNvPr>
          <p:cNvSpPr>
            <a:spLocks xmlns:a="http://schemas.openxmlformats.org/drawingml/2006/main" noGrp="1"/>
          </p:cNvSpPr>
          <p:nvPr/>
        </p:nvSpPr>
        <p:spPr>
          <a:xfrm xmlns:a="http://schemas.openxmlformats.org/drawingml/2006/main">
            <a:off x="533400" y="1133475"/>
            <a:ext cx="647700" cy="381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 name="slide-5-footer-rule">
            <a:extLst xmlns:a="http://schemas.openxmlformats.org/drawingml/2006/main">
              <a:ext uri="{FF2B5EF4-FFF2-40B4-BE49-F238E27FC236}">
                <a16:creationId xmlns:a16="http://schemas.microsoft.com/office/drawing/2014/main" id="{CCF4BF55-B696-479D-8CE1-86FB60049C2D}"/>
              </a:ext>
            </a:extLst>
          </p:cNvPr>
          <p:cNvSpPr>
            <a:spLocks xmlns:a="http://schemas.openxmlformats.org/drawingml/2006/main" noGrp="1"/>
          </p:cNvSpPr>
          <p:nvPr/>
        </p:nvSpPr>
        <p:spPr>
          <a:xfrm xmlns:a="http://schemas.openxmlformats.org/drawingml/2006/main">
            <a:off x="533400" y="6524625"/>
            <a:ext cx="111252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4" name="slide-5-footer">
            <a:extLst xmlns:a="http://schemas.openxmlformats.org/drawingml/2006/main">
              <a:ext uri="{FF2B5EF4-FFF2-40B4-BE49-F238E27FC236}">
                <a16:creationId xmlns:a16="http://schemas.microsoft.com/office/drawing/2014/main" id="{04C24C45-2C91-4B7B-9C3E-64DA65CCDEF2}"/>
              </a:ext>
            </a:extLst>
          </p:cNvPr>
          <p:cNvSpPr>
            <a:spLocks xmlns:a="http://schemas.openxmlformats.org/drawingml/2006/main" noGrp="1"/>
          </p:cNvSpPr>
          <p:nvPr/>
        </p:nvSpPr>
        <p:spPr>
          <a:xfrm xmlns:a="http://schemas.openxmlformats.org/drawingml/2006/main">
            <a:off x="533400" y="658177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a:solidFill>
                  <a:srgbClr val="94A3B8"/>
                </a:solidFill>
                <a:latin typeface="Arial"/>
                <a:ea typeface="Arial"/>
                <a:cs typeface="Arial"/>
              </a:defRPr>
            </a:defPPr>
            <a:lvl1pPr algn="l">
              <a:defRPr sz="825">
                <a:solidFill>
                  <a:srgbClr val="94A3B8"/>
                </a:solidFill>
                <a:latin typeface="Arial"/>
                <a:ea typeface="Arial"/>
                <a:cs typeface="Arial"/>
              </a:defRPr>
            </a:lvl1pPr>
            <a:lvl2pPr algn="l">
              <a:defRPr sz="825">
                <a:solidFill>
                  <a:srgbClr val="94A3B8"/>
                </a:solidFill>
                <a:latin typeface="Arial"/>
                <a:ea typeface="Arial"/>
                <a:cs typeface="Arial"/>
              </a:defRPr>
            </a:lvl2pPr>
            <a:lvl3pPr algn="l">
              <a:defRPr sz="825">
                <a:solidFill>
                  <a:srgbClr val="94A3B8"/>
                </a:solidFill>
                <a:latin typeface="Arial"/>
                <a:ea typeface="Arial"/>
                <a:cs typeface="Arial"/>
              </a:defRPr>
            </a:lvl3pPr>
            <a:lvl4pPr algn="l">
              <a:defRPr sz="825">
                <a:solidFill>
                  <a:srgbClr val="94A3B8"/>
                </a:solidFill>
                <a:latin typeface="Arial"/>
                <a:ea typeface="Arial"/>
                <a:cs typeface="Arial"/>
              </a:defRPr>
            </a:lvl4pPr>
            <a:lvl5pPr algn="l">
              <a:defRPr sz="825">
                <a:solidFill>
                  <a:srgbClr val="94A3B8"/>
                </a:solidFill>
                <a:latin typeface="Arial"/>
                <a:ea typeface="Arial"/>
                <a:cs typeface="Arial"/>
              </a:defRPr>
            </a:lvl5pPr>
            <a:lvl6pPr algn="l">
              <a:defRPr sz="825">
                <a:solidFill>
                  <a:srgbClr val="94A3B8"/>
                </a:solidFill>
                <a:latin typeface="Arial"/>
                <a:ea typeface="Arial"/>
                <a:cs typeface="Arial"/>
              </a:defRPr>
            </a:lvl6pPr>
            <a:lvl7pPr algn="l">
              <a:defRPr sz="825">
                <a:solidFill>
                  <a:srgbClr val="94A3B8"/>
                </a:solidFill>
                <a:latin typeface="Arial"/>
                <a:ea typeface="Arial"/>
                <a:cs typeface="Arial"/>
              </a:defRPr>
            </a:lvl7pPr>
            <a:lvl8pPr algn="l">
              <a:defRPr sz="825">
                <a:solidFill>
                  <a:srgbClr val="94A3B8"/>
                </a:solidFill>
                <a:latin typeface="Arial"/>
                <a:ea typeface="Arial"/>
                <a:cs typeface="Arial"/>
              </a:defRPr>
            </a:lvl8pPr>
            <a:lvl9pPr algn="l">
              <a:defRPr sz="825">
                <a:solidFill>
                  <a:srgbClr val="94A3B8"/>
                </a:solidFill>
                <a:latin typeface="Arial"/>
                <a:ea typeface="Arial"/>
                <a:cs typeface="Arial"/>
              </a:defRPr>
            </a:lvl9pPr>
          </a:lstStyle>
          <a:p xmlns:a="http://schemas.openxmlformats.org/drawingml/2006/main">
            <a:pPr algn="l">
              <a:defRPr sz="825">
                <a:solidFill>
                  <a:srgbClr val="94A3B8"/>
                </a:solidFill>
                <a:latin typeface="Arial"/>
                <a:ea typeface="Arial"/>
                <a:cs typeface="Arial"/>
              </a:defRPr>
            </a:pPr>
            <a:r>
              <a:rPr sz="825">
                <a:solidFill>
                  <a:srgbClr val="94A3B8"/>
                </a:solidFill>
                <a:latin typeface="Arial"/>
                <a:ea typeface="Arial"/>
                <a:cs typeface="Arial"/>
              </a:rPr>
              <a:t>Sacrum · Classroom case. H = case history, E = estimate, * = classroom assumption. All figures are illustrative. CY = calendar year.</a:t>
            </a:r>
          </a:p>
        </p:txBody>
      </p:sp>
      <p:sp>
        <p:nvSpPr>
          <p:cNvPr id="5" name="slide-5-page">
            <a:extLst xmlns:a="http://schemas.openxmlformats.org/drawingml/2006/main">
              <a:ext uri="{FF2B5EF4-FFF2-40B4-BE49-F238E27FC236}">
                <a16:creationId xmlns:a16="http://schemas.microsoft.com/office/drawing/2014/main" id="{0CFFB00C-04C8-4759-8054-5B9EED8AEDF6}"/>
              </a:ext>
            </a:extLst>
          </p:cNvPr>
          <p:cNvSpPr>
            <a:spLocks xmlns:a="http://schemas.openxmlformats.org/drawingml/2006/main" noGrp="1"/>
          </p:cNvSpPr>
          <p:nvPr/>
        </p:nvSpPr>
        <p:spPr>
          <a:xfrm xmlns:a="http://schemas.openxmlformats.org/drawingml/2006/main">
            <a:off x="10953750" y="6581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a:solidFill>
                  <a:srgbClr val="94A3B8"/>
                </a:solidFill>
                <a:latin typeface="Arial"/>
                <a:ea typeface="Arial"/>
                <a:cs typeface="Arial"/>
              </a:defRPr>
            </a:defPPr>
            <a:lvl1pPr algn="r">
              <a:defRPr sz="825">
                <a:solidFill>
                  <a:srgbClr val="94A3B8"/>
                </a:solidFill>
                <a:latin typeface="Arial"/>
                <a:ea typeface="Arial"/>
                <a:cs typeface="Arial"/>
              </a:defRPr>
            </a:lvl1pPr>
            <a:lvl2pPr algn="r">
              <a:defRPr sz="825">
                <a:solidFill>
                  <a:srgbClr val="94A3B8"/>
                </a:solidFill>
                <a:latin typeface="Arial"/>
                <a:ea typeface="Arial"/>
                <a:cs typeface="Arial"/>
              </a:defRPr>
            </a:lvl2pPr>
            <a:lvl3pPr algn="r">
              <a:defRPr sz="825">
                <a:solidFill>
                  <a:srgbClr val="94A3B8"/>
                </a:solidFill>
                <a:latin typeface="Arial"/>
                <a:ea typeface="Arial"/>
                <a:cs typeface="Arial"/>
              </a:defRPr>
            </a:lvl3pPr>
            <a:lvl4pPr algn="r">
              <a:defRPr sz="825">
                <a:solidFill>
                  <a:srgbClr val="94A3B8"/>
                </a:solidFill>
                <a:latin typeface="Arial"/>
                <a:ea typeface="Arial"/>
                <a:cs typeface="Arial"/>
              </a:defRPr>
            </a:lvl4pPr>
            <a:lvl5pPr algn="r">
              <a:defRPr sz="825">
                <a:solidFill>
                  <a:srgbClr val="94A3B8"/>
                </a:solidFill>
                <a:latin typeface="Arial"/>
                <a:ea typeface="Arial"/>
                <a:cs typeface="Arial"/>
              </a:defRPr>
            </a:lvl5pPr>
            <a:lvl6pPr algn="r">
              <a:defRPr sz="825">
                <a:solidFill>
                  <a:srgbClr val="94A3B8"/>
                </a:solidFill>
                <a:latin typeface="Arial"/>
                <a:ea typeface="Arial"/>
                <a:cs typeface="Arial"/>
              </a:defRPr>
            </a:lvl6pPr>
            <a:lvl7pPr algn="r">
              <a:defRPr sz="825">
                <a:solidFill>
                  <a:srgbClr val="94A3B8"/>
                </a:solidFill>
                <a:latin typeface="Arial"/>
                <a:ea typeface="Arial"/>
                <a:cs typeface="Arial"/>
              </a:defRPr>
            </a:lvl7pPr>
            <a:lvl8pPr algn="r">
              <a:defRPr sz="825">
                <a:solidFill>
                  <a:srgbClr val="94A3B8"/>
                </a:solidFill>
                <a:latin typeface="Arial"/>
                <a:ea typeface="Arial"/>
                <a:cs typeface="Arial"/>
              </a:defRPr>
            </a:lvl8pPr>
            <a:lvl9pPr algn="r">
              <a:defRPr sz="825">
                <a:solidFill>
                  <a:srgbClr val="94A3B8"/>
                </a:solidFill>
                <a:latin typeface="Arial"/>
                <a:ea typeface="Arial"/>
                <a:cs typeface="Arial"/>
              </a:defRPr>
            </a:lvl9pPr>
          </a:lstStyle>
          <a:p xmlns:a="http://schemas.openxmlformats.org/drawingml/2006/main">
            <a:pPr algn="r">
              <a:defRPr sz="825">
                <a:solidFill>
                  <a:srgbClr val="94A3B8"/>
                </a:solidFill>
                <a:latin typeface="Arial"/>
                <a:ea typeface="Arial"/>
                <a:cs typeface="Arial"/>
              </a:defRPr>
            </a:pPr>
            <a:r>
              <a:rPr sz="825">
                <a:solidFill>
                  <a:srgbClr val="94A3B8"/>
                </a:solidFill>
                <a:latin typeface="Arial"/>
                <a:ea typeface="Arial"/>
                <a:cs typeface="Arial"/>
              </a:rPr>
              <a:t>5 / 5</a:t>
            </a:r>
          </a:p>
        </p:txBody>
      </p:sp>
      <p:sp>
        <p:nvSpPr>
          <p:cNvPr id="6" name="fund-kpi-1-value">
            <a:extLst xmlns:a="http://schemas.openxmlformats.org/drawingml/2006/main">
              <a:ext uri="{FF2B5EF4-FFF2-40B4-BE49-F238E27FC236}">
                <a16:creationId xmlns:a16="http://schemas.microsoft.com/office/drawing/2014/main" id="{74CF632C-C350-40D0-86ED-682D1C7094C7}"/>
              </a:ext>
            </a:extLst>
          </p:cNvPr>
          <p:cNvSpPr>
            <a:spLocks xmlns:a="http://schemas.openxmlformats.org/drawingml/2006/main" noGrp="1"/>
          </p:cNvSpPr>
          <p:nvPr/>
        </p:nvSpPr>
        <p:spPr>
          <a:xfrm xmlns:a="http://schemas.openxmlformats.org/drawingml/2006/main">
            <a:off x="533400" y="1381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₹0.93 Cr</a:t>
            </a:r>
          </a:p>
        </p:txBody>
      </p:sp>
      <p:sp>
        <p:nvSpPr>
          <p:cNvPr id="7" name="fund-kpi-1-label">
            <a:extLst xmlns:a="http://schemas.openxmlformats.org/drawingml/2006/main">
              <a:ext uri="{FF2B5EF4-FFF2-40B4-BE49-F238E27FC236}">
                <a16:creationId xmlns:a16="http://schemas.microsoft.com/office/drawing/2014/main" id="{BFB7AAB4-D88A-4014-AA9F-FF608A701F4F}"/>
              </a:ext>
            </a:extLst>
          </p:cNvPr>
          <p:cNvSpPr>
            <a:spLocks xmlns:a="http://schemas.openxmlformats.org/drawingml/2006/main" noGrp="1"/>
          </p:cNvSpPr>
          <p:nvPr/>
        </p:nvSpPr>
        <p:spPr>
          <a:xfrm xmlns:a="http://schemas.openxmlformats.org/drawingml/2006/main">
            <a:off x="533400" y="1866900"/>
            <a:ext cx="247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Total capital to date: ₹0.75 Cr angel + ₹0.18 Cr founders</a:t>
            </a:r>
          </a:p>
        </p:txBody>
      </p:sp>
      <p:sp>
        <p:nvSpPr>
          <p:cNvPr id="8" name="fund-kpi-2-value">
            <a:extLst xmlns:a="http://schemas.openxmlformats.org/drawingml/2006/main">
              <a:ext uri="{FF2B5EF4-FFF2-40B4-BE49-F238E27FC236}">
                <a16:creationId xmlns:a16="http://schemas.microsoft.com/office/drawing/2014/main" id="{C6E2856D-6E27-41AC-891B-ECD209178BE9}"/>
              </a:ext>
            </a:extLst>
          </p:cNvPr>
          <p:cNvSpPr>
            <a:spLocks xmlns:a="http://schemas.openxmlformats.org/drawingml/2006/main" noGrp="1"/>
          </p:cNvSpPr>
          <p:nvPr/>
        </p:nvSpPr>
        <p:spPr>
          <a:xfrm xmlns:a="http://schemas.openxmlformats.org/drawingml/2006/main">
            <a:off x="3362325" y="1381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₹3.2 Cr*</a:t>
            </a:r>
          </a:p>
        </p:txBody>
      </p:sp>
      <p:sp>
        <p:nvSpPr>
          <p:cNvPr id="9" name="fund-kpi-2-label">
            <a:extLst xmlns:a="http://schemas.openxmlformats.org/drawingml/2006/main">
              <a:ext uri="{FF2B5EF4-FFF2-40B4-BE49-F238E27FC236}">
                <a16:creationId xmlns:a16="http://schemas.microsoft.com/office/drawing/2014/main" id="{E4094B98-85D2-4B44-91E4-6047BD5F5ACE}"/>
              </a:ext>
            </a:extLst>
          </p:cNvPr>
          <p:cNvSpPr>
            <a:spLocks xmlns:a="http://schemas.openxmlformats.org/drawingml/2006/main" noGrp="1"/>
          </p:cNvSpPr>
          <p:nvPr/>
        </p:nvSpPr>
        <p:spPr>
          <a:xfrm xmlns:a="http://schemas.openxmlformats.org/drawingml/2006/main">
            <a:off x="3362325" y="1866900"/>
            <a:ext cx="247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CY25H EBITDA at a 10% assumed margin</a:t>
            </a:r>
          </a:p>
        </p:txBody>
      </p:sp>
      <p:sp>
        <p:nvSpPr>
          <p:cNvPr id="10" name="kpi-divider-1">
            <a:extLst xmlns:a="http://schemas.openxmlformats.org/drawingml/2006/main">
              <a:ext uri="{FF2B5EF4-FFF2-40B4-BE49-F238E27FC236}">
                <a16:creationId xmlns:a16="http://schemas.microsoft.com/office/drawing/2014/main" id="{BEB1CDA7-0E45-4936-9134-F5D2FB276F4D}"/>
              </a:ext>
            </a:extLst>
          </p:cNvPr>
          <p:cNvSpPr>
            <a:spLocks xmlns:a="http://schemas.openxmlformats.org/drawingml/2006/main" noGrp="1"/>
          </p:cNvSpPr>
          <p:nvPr/>
        </p:nvSpPr>
        <p:spPr>
          <a:xfrm xmlns:a="http://schemas.openxmlformats.org/drawingml/2006/main">
            <a:off x="3200400" y="1428750"/>
            <a:ext cx="0" cy="79057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1" name="fund-kpi-3-value">
            <a:extLst xmlns:a="http://schemas.openxmlformats.org/drawingml/2006/main">
              <a:ext uri="{FF2B5EF4-FFF2-40B4-BE49-F238E27FC236}">
                <a16:creationId xmlns:a16="http://schemas.microsoft.com/office/drawing/2014/main" id="{AE69B834-9911-4F07-B023-747FEA4E0B0D}"/>
              </a:ext>
            </a:extLst>
          </p:cNvPr>
          <p:cNvSpPr>
            <a:spLocks xmlns:a="http://schemas.openxmlformats.org/drawingml/2006/main" noGrp="1"/>
          </p:cNvSpPr>
          <p:nvPr/>
        </p:nvSpPr>
        <p:spPr>
          <a:xfrm xmlns:a="http://schemas.openxmlformats.org/drawingml/2006/main">
            <a:off x="6191250" y="1381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₹3.0 Cr*</a:t>
            </a:r>
          </a:p>
        </p:txBody>
      </p:sp>
      <p:sp>
        <p:nvSpPr>
          <p:cNvPr id="12" name="fund-kpi-3-label">
            <a:extLst xmlns:a="http://schemas.openxmlformats.org/drawingml/2006/main">
              <a:ext uri="{FF2B5EF4-FFF2-40B4-BE49-F238E27FC236}">
                <a16:creationId xmlns:a16="http://schemas.microsoft.com/office/drawing/2014/main" id="{41F50D88-03F3-44E8-AA68-49C1F3808DB7}"/>
              </a:ext>
            </a:extLst>
          </p:cNvPr>
          <p:cNvSpPr>
            <a:spLocks xmlns:a="http://schemas.openxmlformats.org/drawingml/2006/main" noGrp="1"/>
          </p:cNvSpPr>
          <p:nvPr/>
        </p:nvSpPr>
        <p:spPr>
          <a:xfrm xmlns:a="http://schemas.openxmlformats.org/drawingml/2006/main">
            <a:off x="6191250" y="1866900"/>
            <a:ext cx="247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Cumulative CY22H–CY25H EBITDA under the case assumptions</a:t>
            </a:r>
          </a:p>
        </p:txBody>
      </p:sp>
      <p:sp>
        <p:nvSpPr>
          <p:cNvPr id="13" name="kpi-divider-2">
            <a:extLst xmlns:a="http://schemas.openxmlformats.org/drawingml/2006/main">
              <a:ext uri="{FF2B5EF4-FFF2-40B4-BE49-F238E27FC236}">
                <a16:creationId xmlns:a16="http://schemas.microsoft.com/office/drawing/2014/main" id="{5EEF651E-EAFF-4AB0-A8C9-7C31BB902EE7}"/>
              </a:ext>
            </a:extLst>
          </p:cNvPr>
          <p:cNvSpPr>
            <a:spLocks xmlns:a="http://schemas.openxmlformats.org/drawingml/2006/main" noGrp="1"/>
          </p:cNvSpPr>
          <p:nvPr/>
        </p:nvSpPr>
        <p:spPr>
          <a:xfrm xmlns:a="http://schemas.openxmlformats.org/drawingml/2006/main">
            <a:off x="6029325" y="1428750"/>
            <a:ext cx="0" cy="79057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4" name="fund-kpi-4-value">
            <a:extLst xmlns:a="http://schemas.openxmlformats.org/drawingml/2006/main">
              <a:ext uri="{FF2B5EF4-FFF2-40B4-BE49-F238E27FC236}">
                <a16:creationId xmlns:a16="http://schemas.microsoft.com/office/drawing/2014/main" id="{BC0AFAB2-4A57-4F5B-BCD7-B6107B68476F}"/>
              </a:ext>
            </a:extLst>
          </p:cNvPr>
          <p:cNvSpPr>
            <a:spLocks xmlns:a="http://schemas.openxmlformats.org/drawingml/2006/main" noGrp="1"/>
          </p:cNvSpPr>
          <p:nvPr/>
        </p:nvSpPr>
        <p:spPr>
          <a:xfrm xmlns:a="http://schemas.openxmlformats.org/drawingml/2006/main">
            <a:off x="9020175" y="1381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0D9488"/>
                </a:solidFill>
                <a:latin typeface="Arial"/>
                <a:ea typeface="Arial"/>
                <a:cs typeface="Arial"/>
              </a:defRPr>
            </a:defPPr>
            <a:lvl1pPr algn="l">
              <a:defRPr sz="2175" b="1">
                <a:solidFill>
                  <a:srgbClr val="0D9488"/>
                </a:solidFill>
                <a:latin typeface="Arial"/>
                <a:ea typeface="Arial"/>
                <a:cs typeface="Arial"/>
              </a:defRPr>
            </a:lvl1pPr>
            <a:lvl2pPr algn="l">
              <a:defRPr sz="2175" b="1">
                <a:solidFill>
                  <a:srgbClr val="0D9488"/>
                </a:solidFill>
                <a:latin typeface="Arial"/>
                <a:ea typeface="Arial"/>
                <a:cs typeface="Arial"/>
              </a:defRPr>
            </a:lvl2pPr>
            <a:lvl3pPr algn="l">
              <a:defRPr sz="2175" b="1">
                <a:solidFill>
                  <a:srgbClr val="0D9488"/>
                </a:solidFill>
                <a:latin typeface="Arial"/>
                <a:ea typeface="Arial"/>
                <a:cs typeface="Arial"/>
              </a:defRPr>
            </a:lvl3pPr>
            <a:lvl4pPr algn="l">
              <a:defRPr sz="2175" b="1">
                <a:solidFill>
                  <a:srgbClr val="0D9488"/>
                </a:solidFill>
                <a:latin typeface="Arial"/>
                <a:ea typeface="Arial"/>
                <a:cs typeface="Arial"/>
              </a:defRPr>
            </a:lvl4pPr>
            <a:lvl5pPr algn="l">
              <a:defRPr sz="2175" b="1">
                <a:solidFill>
                  <a:srgbClr val="0D9488"/>
                </a:solidFill>
                <a:latin typeface="Arial"/>
                <a:ea typeface="Arial"/>
                <a:cs typeface="Arial"/>
              </a:defRPr>
            </a:lvl5pPr>
            <a:lvl6pPr algn="l">
              <a:defRPr sz="2175" b="1">
                <a:solidFill>
                  <a:srgbClr val="0D9488"/>
                </a:solidFill>
                <a:latin typeface="Arial"/>
                <a:ea typeface="Arial"/>
                <a:cs typeface="Arial"/>
              </a:defRPr>
            </a:lvl6pPr>
            <a:lvl7pPr algn="l">
              <a:defRPr sz="2175" b="1">
                <a:solidFill>
                  <a:srgbClr val="0D9488"/>
                </a:solidFill>
                <a:latin typeface="Arial"/>
                <a:ea typeface="Arial"/>
                <a:cs typeface="Arial"/>
              </a:defRPr>
            </a:lvl7pPr>
            <a:lvl8pPr algn="l">
              <a:defRPr sz="2175" b="1">
                <a:solidFill>
                  <a:srgbClr val="0D9488"/>
                </a:solidFill>
                <a:latin typeface="Arial"/>
                <a:ea typeface="Arial"/>
                <a:cs typeface="Arial"/>
              </a:defRPr>
            </a:lvl8pPr>
            <a:lvl9pPr algn="l">
              <a:defRPr sz="2175" b="1">
                <a:solidFill>
                  <a:srgbClr val="0D9488"/>
                </a:solidFill>
                <a:latin typeface="Arial"/>
                <a:ea typeface="Arial"/>
                <a:cs typeface="Arial"/>
              </a:defRPr>
            </a:lvl9pPr>
          </a:lstStyle>
          <a:p xmlns:a="http://schemas.openxmlformats.org/drawingml/2006/main">
            <a:pPr algn="l">
              <a:defRPr sz="2175" b="1">
                <a:solidFill>
                  <a:srgbClr val="0D9488"/>
                </a:solidFill>
                <a:latin typeface="Arial"/>
                <a:ea typeface="Arial"/>
                <a:cs typeface="Arial"/>
              </a:defRPr>
            </a:pPr>
            <a:r>
              <a:rPr sz="2175" b="1">
                <a:solidFill>
                  <a:srgbClr val="0D9488"/>
                </a:solidFill>
                <a:latin typeface="Arial"/>
                <a:ea typeface="Arial"/>
                <a:cs typeface="Arial"/>
              </a:rPr>
              <a:t>~27 months*</a:t>
            </a:r>
          </a:p>
        </p:txBody>
      </p:sp>
      <p:sp>
        <p:nvSpPr>
          <p:cNvPr id="15" name="fund-kpi-4-label">
            <a:extLst xmlns:a="http://schemas.openxmlformats.org/drawingml/2006/main">
              <a:ext uri="{FF2B5EF4-FFF2-40B4-BE49-F238E27FC236}">
                <a16:creationId xmlns:a16="http://schemas.microsoft.com/office/drawing/2014/main" id="{09F52AD3-DB5C-4EFE-B138-11260772F7EA}"/>
              </a:ext>
            </a:extLst>
          </p:cNvPr>
          <p:cNvSpPr>
            <a:spLocks xmlns:a="http://schemas.openxmlformats.org/drawingml/2006/main" noGrp="1"/>
          </p:cNvSpPr>
          <p:nvPr/>
        </p:nvSpPr>
        <p:spPr>
          <a:xfrm xmlns:a="http://schemas.openxmlformats.org/drawingml/2006/main">
            <a:off x="9020175" y="1866900"/>
            <a:ext cx="247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a:solidFill>
                  <a:srgbClr val="64748B"/>
                </a:solidFill>
                <a:latin typeface="Arial"/>
                <a:ea typeface="Arial"/>
                <a:cs typeface="Arial"/>
              </a:defRPr>
            </a:defPPr>
            <a:lvl1pPr algn="l">
              <a:defRPr sz="1050">
                <a:solidFill>
                  <a:srgbClr val="64748B"/>
                </a:solidFill>
                <a:latin typeface="Arial"/>
                <a:ea typeface="Arial"/>
                <a:cs typeface="Arial"/>
              </a:defRPr>
            </a:lvl1pPr>
            <a:lvl2pPr algn="l">
              <a:defRPr sz="1050">
                <a:solidFill>
                  <a:srgbClr val="64748B"/>
                </a:solidFill>
                <a:latin typeface="Arial"/>
                <a:ea typeface="Arial"/>
                <a:cs typeface="Arial"/>
              </a:defRPr>
            </a:lvl2pPr>
            <a:lvl3pPr algn="l">
              <a:defRPr sz="1050">
                <a:solidFill>
                  <a:srgbClr val="64748B"/>
                </a:solidFill>
                <a:latin typeface="Arial"/>
                <a:ea typeface="Arial"/>
                <a:cs typeface="Arial"/>
              </a:defRPr>
            </a:lvl3pPr>
            <a:lvl4pPr algn="l">
              <a:defRPr sz="1050">
                <a:solidFill>
                  <a:srgbClr val="64748B"/>
                </a:solidFill>
                <a:latin typeface="Arial"/>
                <a:ea typeface="Arial"/>
                <a:cs typeface="Arial"/>
              </a:defRPr>
            </a:lvl4pPr>
            <a:lvl5pPr algn="l">
              <a:defRPr sz="1050">
                <a:solidFill>
                  <a:srgbClr val="64748B"/>
                </a:solidFill>
                <a:latin typeface="Arial"/>
                <a:ea typeface="Arial"/>
                <a:cs typeface="Arial"/>
              </a:defRPr>
            </a:lvl5pPr>
            <a:lvl6pPr algn="l">
              <a:defRPr sz="1050">
                <a:solidFill>
                  <a:srgbClr val="64748B"/>
                </a:solidFill>
                <a:latin typeface="Arial"/>
                <a:ea typeface="Arial"/>
                <a:cs typeface="Arial"/>
              </a:defRPr>
            </a:lvl6pPr>
            <a:lvl7pPr algn="l">
              <a:defRPr sz="1050">
                <a:solidFill>
                  <a:srgbClr val="64748B"/>
                </a:solidFill>
                <a:latin typeface="Arial"/>
                <a:ea typeface="Arial"/>
                <a:cs typeface="Arial"/>
              </a:defRPr>
            </a:lvl7pPr>
            <a:lvl8pPr algn="l">
              <a:defRPr sz="1050">
                <a:solidFill>
                  <a:srgbClr val="64748B"/>
                </a:solidFill>
                <a:latin typeface="Arial"/>
                <a:ea typeface="Arial"/>
                <a:cs typeface="Arial"/>
              </a:defRPr>
            </a:lvl8pPr>
            <a:lvl9pPr algn="l">
              <a:defRPr sz="1050">
                <a:solidFill>
                  <a:srgbClr val="64748B"/>
                </a:solidFill>
                <a:latin typeface="Arial"/>
                <a:ea typeface="Arial"/>
                <a:cs typeface="Arial"/>
              </a:defRPr>
            </a:lvl9pPr>
          </a:lstStyle>
          <a:p xmlns:a="http://schemas.openxmlformats.org/drawingml/2006/main">
            <a:pPr algn="l">
              <a:lnSpc>
                <a:spcPct val="100000"/>
              </a:lnSpc>
              <a:buNone/>
              <a:defRPr sz="1050">
                <a:solidFill>
                  <a:srgbClr val="64748B"/>
                </a:solidFill>
                <a:latin typeface="Arial"/>
                <a:ea typeface="Arial"/>
                <a:cs typeface="Arial"/>
              </a:defRPr>
            </a:pPr>
            <a:r>
              <a:rPr sz="1050">
                <a:solidFill>
                  <a:srgbClr val="64748B"/>
                </a:solidFill>
                <a:latin typeface="Arial"/>
                <a:ea typeface="Arial"/>
                <a:cs typeface="Arial"/>
              </a:rPr>
              <a:t>Modelled runway including ₹2.5 Cr current cash</a:t>
            </a:r>
          </a:p>
        </p:txBody>
      </p:sp>
      <p:sp>
        <p:nvSpPr>
          <p:cNvPr id="16" name="kpi-divider-3">
            <a:extLst xmlns:a="http://schemas.openxmlformats.org/drawingml/2006/main">
              <a:ext uri="{FF2B5EF4-FFF2-40B4-BE49-F238E27FC236}">
                <a16:creationId xmlns:a16="http://schemas.microsoft.com/office/drawing/2014/main" id="{59137D2F-BD1E-4EB6-8813-92D3EA79C64F}"/>
              </a:ext>
            </a:extLst>
          </p:cNvPr>
          <p:cNvSpPr>
            <a:spLocks xmlns:a="http://schemas.openxmlformats.org/drawingml/2006/main" noGrp="1"/>
          </p:cNvSpPr>
          <p:nvPr/>
        </p:nvSpPr>
        <p:spPr>
          <a:xfrm xmlns:a="http://schemas.openxmlformats.org/drawingml/2006/main">
            <a:off x="8858250" y="1428750"/>
            <a:ext cx="0" cy="79057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7" name="funds-heading">
            <a:extLst xmlns:a="http://schemas.openxmlformats.org/drawingml/2006/main">
              <a:ext uri="{FF2B5EF4-FFF2-40B4-BE49-F238E27FC236}">
                <a16:creationId xmlns:a16="http://schemas.microsoft.com/office/drawing/2014/main" id="{3B483F1B-2A6B-44DF-9DB6-2206131EC6DD}"/>
              </a:ext>
            </a:extLst>
          </p:cNvPr>
          <p:cNvSpPr>
            <a:spLocks xmlns:a="http://schemas.openxmlformats.org/drawingml/2006/main" noGrp="1"/>
          </p:cNvSpPr>
          <p:nvPr/>
        </p:nvSpPr>
        <p:spPr>
          <a:xfrm xmlns:a="http://schemas.openxmlformats.org/drawingml/2006/main">
            <a:off x="533400" y="2447925"/>
            <a:ext cx="521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Use of funds (₹25 Cr pre-Series A round)</a:t>
            </a:r>
          </a:p>
        </p:txBody>
      </p:sp>
      <p:graphicFrame>
        <p:nvGraphicFramePr>
          <p:cNvPr id="18" name="Chart">
            <a:extLst xmlns:a="http://schemas.openxmlformats.org/drawingml/2006/main">
              <a:ext uri="{FF2B5EF4-FFF2-40B4-BE49-F238E27FC236}">
                <a16:creationId xmlns:a16="http://schemas.microsoft.com/office/drawing/2014/main" id="{AC606F9A-B070-41FC-9BE6-C73E365CDC59}"/>
              </a:ext>
            </a:extLst>
          </p:cNvPr>
          <p:cNvGraphicFramePr/>
          <p:nvPr/>
        </p:nvGraphicFramePr>
        <p:xfrm>
          <a:off xmlns:a="http://schemas.openxmlformats.org/drawingml/2006/main" x="533400" y="2752725"/>
          <a:ext xmlns:a="http://schemas.openxmlformats.org/drawingml/2006/main" cx="5219700" cy="1790700"/>
        </p:xfrm>
        <a:graphic xmlns:a="http://schemas.openxmlformats.org/drawingml/2006/main">
          <a:graphicData uri="http://schemas.openxmlformats.org/drawingml/2006/chart">
            <c:chart xmlns:r="http://schemas.openxmlformats.org/officeDocument/2006/relationships" xmlns:c="http://schemas.openxmlformats.org/drawingml/2006/chart" r:id="R42a9a91986924ea2"/>
          </a:graphicData>
        </a:graphic>
      </p:graphicFrame>
      <p:sp>
        <p:nvSpPr>
          <p:cNvPr id="19" name="milestones-heading">
            <a:extLst xmlns:a="http://schemas.openxmlformats.org/drawingml/2006/main">
              <a:ext uri="{FF2B5EF4-FFF2-40B4-BE49-F238E27FC236}">
                <a16:creationId xmlns:a16="http://schemas.microsoft.com/office/drawing/2014/main" id="{3202B009-93DB-4DD6-8209-7C32D32CAEB1}"/>
              </a:ext>
            </a:extLst>
          </p:cNvPr>
          <p:cNvSpPr>
            <a:spLocks xmlns:a="http://schemas.openxmlformats.org/drawingml/2006/main" noGrp="1"/>
          </p:cNvSpPr>
          <p:nvPr/>
        </p:nvSpPr>
        <p:spPr>
          <a:xfrm xmlns:a="http://schemas.openxmlformats.org/drawingml/2006/main">
            <a:off x="6143625" y="2447925"/>
            <a:ext cx="55149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0F172A"/>
                </a:solidFill>
                <a:latin typeface="Arial"/>
                <a:ea typeface="Arial"/>
                <a:cs typeface="Arial"/>
              </a:defRPr>
            </a:defPPr>
            <a:lvl1pPr algn="l">
              <a:defRPr sz="1275" b="1">
                <a:solidFill>
                  <a:srgbClr val="0F172A"/>
                </a:solidFill>
                <a:latin typeface="Arial"/>
                <a:ea typeface="Arial"/>
                <a:cs typeface="Arial"/>
              </a:defRPr>
            </a:lvl1pPr>
            <a:lvl2pPr algn="l">
              <a:defRPr sz="1275" b="1">
                <a:solidFill>
                  <a:srgbClr val="0F172A"/>
                </a:solidFill>
                <a:latin typeface="Arial"/>
                <a:ea typeface="Arial"/>
                <a:cs typeface="Arial"/>
              </a:defRPr>
            </a:lvl2pPr>
            <a:lvl3pPr algn="l">
              <a:defRPr sz="1275" b="1">
                <a:solidFill>
                  <a:srgbClr val="0F172A"/>
                </a:solidFill>
                <a:latin typeface="Arial"/>
                <a:ea typeface="Arial"/>
                <a:cs typeface="Arial"/>
              </a:defRPr>
            </a:lvl3pPr>
            <a:lvl4pPr algn="l">
              <a:defRPr sz="1275" b="1">
                <a:solidFill>
                  <a:srgbClr val="0F172A"/>
                </a:solidFill>
                <a:latin typeface="Arial"/>
                <a:ea typeface="Arial"/>
                <a:cs typeface="Arial"/>
              </a:defRPr>
            </a:lvl4pPr>
            <a:lvl5pPr algn="l">
              <a:defRPr sz="1275" b="1">
                <a:solidFill>
                  <a:srgbClr val="0F172A"/>
                </a:solidFill>
                <a:latin typeface="Arial"/>
                <a:ea typeface="Arial"/>
                <a:cs typeface="Arial"/>
              </a:defRPr>
            </a:lvl5pPr>
            <a:lvl6pPr algn="l">
              <a:defRPr sz="1275" b="1">
                <a:solidFill>
                  <a:srgbClr val="0F172A"/>
                </a:solidFill>
                <a:latin typeface="Arial"/>
                <a:ea typeface="Arial"/>
                <a:cs typeface="Arial"/>
              </a:defRPr>
            </a:lvl6pPr>
            <a:lvl7pPr algn="l">
              <a:defRPr sz="1275" b="1">
                <a:solidFill>
                  <a:srgbClr val="0F172A"/>
                </a:solidFill>
                <a:latin typeface="Arial"/>
                <a:ea typeface="Arial"/>
                <a:cs typeface="Arial"/>
              </a:defRPr>
            </a:lvl7pPr>
            <a:lvl8pPr algn="l">
              <a:defRPr sz="1275" b="1">
                <a:solidFill>
                  <a:srgbClr val="0F172A"/>
                </a:solidFill>
                <a:latin typeface="Arial"/>
                <a:ea typeface="Arial"/>
                <a:cs typeface="Arial"/>
              </a:defRPr>
            </a:lvl8pPr>
            <a:lvl9pPr algn="l">
              <a:defRPr sz="1275" b="1">
                <a:solidFill>
                  <a:srgbClr val="0F172A"/>
                </a:solidFill>
                <a:latin typeface="Arial"/>
                <a:ea typeface="Arial"/>
                <a:cs typeface="Arial"/>
              </a:defRPr>
            </a:lvl9pPr>
          </a:lstStyle>
          <a:p xmlns:a="http://schemas.openxmlformats.org/drawingml/2006/main">
            <a:pPr algn="l">
              <a:defRPr sz="1275" b="1">
                <a:solidFill>
                  <a:srgbClr val="0F172A"/>
                </a:solidFill>
                <a:latin typeface="Arial"/>
                <a:ea typeface="Arial"/>
                <a:cs typeface="Arial"/>
              </a:defRPr>
            </a:pPr>
            <a:r>
              <a:rPr sz="1275" b="1">
                <a:solidFill>
                  <a:srgbClr val="0F172A"/>
                </a:solidFill>
                <a:latin typeface="Arial"/>
                <a:ea typeface="Arial"/>
                <a:cs typeface="Arial"/>
              </a:rPr>
              <a:t>24-month milestones; assumes round closes by Dec 2026</a:t>
            </a:r>
          </a:p>
        </p:txBody>
      </p:sp>
      <p:sp>
        <p:nvSpPr>
          <p:cNvPr id="20" name="milestone-timeline-line">
            <a:extLst xmlns:a="http://schemas.openxmlformats.org/drawingml/2006/main">
              <a:ext uri="{FF2B5EF4-FFF2-40B4-BE49-F238E27FC236}">
                <a16:creationId xmlns:a16="http://schemas.microsoft.com/office/drawing/2014/main" id="{9BBE9CAC-2E34-4721-9B57-FFBBF808FA32}"/>
              </a:ext>
            </a:extLst>
          </p:cNvPr>
          <p:cNvSpPr>
            <a:spLocks xmlns:a="http://schemas.openxmlformats.org/drawingml/2006/main" noGrp="1"/>
          </p:cNvSpPr>
          <p:nvPr/>
        </p:nvSpPr>
        <p:spPr>
          <a:xfrm xmlns:a="http://schemas.openxmlformats.org/drawingml/2006/main">
            <a:off x="6391275" y="3038475"/>
            <a:ext cx="0" cy="1314450"/>
          </a:xfrm>
          <a:prstGeom xmlns:a="http://schemas.openxmlformats.org/drawingml/2006/main" prst="line">
            <a:avLst/>
          </a:prstGeom>
          <a:noFill xmlns:a="http://schemas.openxmlformats.org/drawingml/2006/main"/>
          <a:ln xmlns:a="http://schemas.openxmlformats.org/drawingml/2006/main" w="19050">
            <a:solidFill>
              <a:srgbClr val="0D9488"/>
            </a:solidFill>
            <a:prstDash val="solid"/>
          </a:ln>
        </p:spPr>
      </p:sp>
      <p:sp>
        <p:nvSpPr>
          <p:cNvPr id="21" name="milestone-node-1">
            <a:extLst xmlns:a="http://schemas.openxmlformats.org/drawingml/2006/main">
              <a:ext uri="{FF2B5EF4-FFF2-40B4-BE49-F238E27FC236}">
                <a16:creationId xmlns:a16="http://schemas.microsoft.com/office/drawing/2014/main" id="{C751924A-B68E-4D2B-A23E-B6321779C616}"/>
              </a:ext>
            </a:extLst>
          </p:cNvPr>
          <p:cNvSpPr>
            <a:spLocks xmlns:a="http://schemas.openxmlformats.org/drawingml/2006/main" noGrp="1"/>
          </p:cNvSpPr>
          <p:nvPr/>
        </p:nvSpPr>
        <p:spPr>
          <a:xfrm xmlns:a="http://schemas.openxmlformats.org/drawingml/2006/main">
            <a:off x="6324600" y="2971800"/>
            <a:ext cx="133350" cy="133350"/>
          </a:xfrm>
          <a:prstGeom xmlns:a="http://schemas.openxmlformats.org/drawingml/2006/main" prst="ellipse">
            <a:avLst/>
          </a:prstGeom>
          <a:solidFill xmlns:a="http://schemas.openxmlformats.org/drawingml/2006/main">
            <a:srgbClr val="0D9488"/>
          </a:solidFill>
          <a:ln xmlns:a="http://schemas.openxmlformats.org/drawingml/2006/main" w="9525">
            <a:solidFill>
              <a:srgbClr val="0D9488"/>
            </a:solidFill>
            <a:prstDash val="solid"/>
          </a:ln>
        </p:spPr>
      </p:sp>
      <p:sp>
        <p:nvSpPr>
          <p:cNvPr id="22" name="milestone-period-1">
            <a:extLst xmlns:a="http://schemas.openxmlformats.org/drawingml/2006/main">
              <a:ext uri="{FF2B5EF4-FFF2-40B4-BE49-F238E27FC236}">
                <a16:creationId xmlns:a16="http://schemas.microsoft.com/office/drawing/2014/main" id="{E8C7C448-2AA6-47C3-9A65-DC82E525C3A2}"/>
              </a:ext>
            </a:extLst>
          </p:cNvPr>
          <p:cNvSpPr>
            <a:spLocks xmlns:a="http://schemas.openxmlformats.org/drawingml/2006/main" noGrp="1"/>
          </p:cNvSpPr>
          <p:nvPr/>
        </p:nvSpPr>
        <p:spPr>
          <a:xfrm xmlns:a="http://schemas.openxmlformats.org/drawingml/2006/main">
            <a:off x="6600825" y="28956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98" b="1">
                <a:solidFill>
                  <a:srgbClr val="0F172A"/>
                </a:solidFill>
                <a:latin typeface="Arial"/>
                <a:ea typeface="Arial"/>
                <a:cs typeface="Arial"/>
              </a:defRPr>
            </a:defPPr>
            <a:lvl1pPr algn="l">
              <a:defRPr sz="998" b="1">
                <a:solidFill>
                  <a:srgbClr val="0F172A"/>
                </a:solidFill>
                <a:latin typeface="Arial"/>
                <a:ea typeface="Arial"/>
                <a:cs typeface="Arial"/>
              </a:defRPr>
            </a:lvl1pPr>
            <a:lvl2pPr algn="l">
              <a:defRPr sz="998" b="1">
                <a:solidFill>
                  <a:srgbClr val="0F172A"/>
                </a:solidFill>
                <a:latin typeface="Arial"/>
                <a:ea typeface="Arial"/>
                <a:cs typeface="Arial"/>
              </a:defRPr>
            </a:lvl2pPr>
            <a:lvl3pPr algn="l">
              <a:defRPr sz="998" b="1">
                <a:solidFill>
                  <a:srgbClr val="0F172A"/>
                </a:solidFill>
                <a:latin typeface="Arial"/>
                <a:ea typeface="Arial"/>
                <a:cs typeface="Arial"/>
              </a:defRPr>
            </a:lvl3pPr>
            <a:lvl4pPr algn="l">
              <a:defRPr sz="998" b="1">
                <a:solidFill>
                  <a:srgbClr val="0F172A"/>
                </a:solidFill>
                <a:latin typeface="Arial"/>
                <a:ea typeface="Arial"/>
                <a:cs typeface="Arial"/>
              </a:defRPr>
            </a:lvl4pPr>
            <a:lvl5pPr algn="l">
              <a:defRPr sz="998" b="1">
                <a:solidFill>
                  <a:srgbClr val="0F172A"/>
                </a:solidFill>
                <a:latin typeface="Arial"/>
                <a:ea typeface="Arial"/>
                <a:cs typeface="Arial"/>
              </a:defRPr>
            </a:lvl5pPr>
            <a:lvl6pPr algn="l">
              <a:defRPr sz="998" b="1">
                <a:solidFill>
                  <a:srgbClr val="0F172A"/>
                </a:solidFill>
                <a:latin typeface="Arial"/>
                <a:ea typeface="Arial"/>
                <a:cs typeface="Arial"/>
              </a:defRPr>
            </a:lvl6pPr>
            <a:lvl7pPr algn="l">
              <a:defRPr sz="998" b="1">
                <a:solidFill>
                  <a:srgbClr val="0F172A"/>
                </a:solidFill>
                <a:latin typeface="Arial"/>
                <a:ea typeface="Arial"/>
                <a:cs typeface="Arial"/>
              </a:defRPr>
            </a:lvl7pPr>
            <a:lvl8pPr algn="l">
              <a:defRPr sz="998" b="1">
                <a:solidFill>
                  <a:srgbClr val="0F172A"/>
                </a:solidFill>
                <a:latin typeface="Arial"/>
                <a:ea typeface="Arial"/>
                <a:cs typeface="Arial"/>
              </a:defRPr>
            </a:lvl8pPr>
            <a:lvl9pPr algn="l">
              <a:defRPr sz="998" b="1">
                <a:solidFill>
                  <a:srgbClr val="0F172A"/>
                </a:solidFill>
                <a:latin typeface="Arial"/>
                <a:ea typeface="Arial"/>
                <a:cs typeface="Arial"/>
              </a:defRPr>
            </a:lvl9pPr>
          </a:lstStyle>
          <a:p xmlns:a="http://schemas.openxmlformats.org/drawingml/2006/main">
            <a:pPr algn="l">
              <a:defRPr sz="998" b="1">
                <a:solidFill>
                  <a:srgbClr val="0F172A"/>
                </a:solidFill>
                <a:latin typeface="Arial"/>
                <a:ea typeface="Arial"/>
                <a:cs typeface="Arial"/>
              </a:defRPr>
            </a:pPr>
            <a:r>
              <a:rPr sz="998" b="1">
                <a:solidFill>
                  <a:srgbClr val="0F172A"/>
                </a:solidFill>
                <a:latin typeface="Arial"/>
                <a:ea typeface="Arial"/>
                <a:cs typeface="Arial"/>
              </a:rPr>
              <a:t>Months 0–6</a:t>
            </a:r>
          </a:p>
        </p:txBody>
      </p:sp>
      <p:sp>
        <p:nvSpPr>
          <p:cNvPr id="23" name="milestone-description-1">
            <a:extLst xmlns:a="http://schemas.openxmlformats.org/drawingml/2006/main">
              <a:ext uri="{FF2B5EF4-FFF2-40B4-BE49-F238E27FC236}">
                <a16:creationId xmlns:a16="http://schemas.microsoft.com/office/drawing/2014/main" id="{EAEEB9CA-39DD-4672-98AB-AA406338A5F7}"/>
              </a:ext>
            </a:extLst>
          </p:cNvPr>
          <p:cNvSpPr>
            <a:spLocks xmlns:a="http://schemas.openxmlformats.org/drawingml/2006/main" noGrp="1"/>
          </p:cNvSpPr>
          <p:nvPr/>
        </p:nvSpPr>
        <p:spPr>
          <a:xfrm xmlns:a="http://schemas.openxmlformats.org/drawingml/2006/main">
            <a:off x="7743825" y="2895600"/>
            <a:ext cx="3819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15">
                <a:solidFill>
                  <a:srgbClr val="334155"/>
                </a:solidFill>
                <a:latin typeface="Arial"/>
                <a:ea typeface="Arial"/>
                <a:cs typeface="Arial"/>
              </a:defRPr>
            </a:defPPr>
            <a:lvl1pPr algn="l">
              <a:defRPr sz="915">
                <a:solidFill>
                  <a:srgbClr val="334155"/>
                </a:solidFill>
                <a:latin typeface="Arial"/>
                <a:ea typeface="Arial"/>
                <a:cs typeface="Arial"/>
              </a:defRPr>
            </a:lvl1pPr>
            <a:lvl2pPr algn="l">
              <a:defRPr sz="915">
                <a:solidFill>
                  <a:srgbClr val="334155"/>
                </a:solidFill>
                <a:latin typeface="Arial"/>
                <a:ea typeface="Arial"/>
                <a:cs typeface="Arial"/>
              </a:defRPr>
            </a:lvl2pPr>
            <a:lvl3pPr algn="l">
              <a:defRPr sz="915">
                <a:solidFill>
                  <a:srgbClr val="334155"/>
                </a:solidFill>
                <a:latin typeface="Arial"/>
                <a:ea typeface="Arial"/>
                <a:cs typeface="Arial"/>
              </a:defRPr>
            </a:lvl3pPr>
            <a:lvl4pPr algn="l">
              <a:defRPr sz="915">
                <a:solidFill>
                  <a:srgbClr val="334155"/>
                </a:solidFill>
                <a:latin typeface="Arial"/>
                <a:ea typeface="Arial"/>
                <a:cs typeface="Arial"/>
              </a:defRPr>
            </a:lvl4pPr>
            <a:lvl5pPr algn="l">
              <a:defRPr sz="915">
                <a:solidFill>
                  <a:srgbClr val="334155"/>
                </a:solidFill>
                <a:latin typeface="Arial"/>
                <a:ea typeface="Arial"/>
                <a:cs typeface="Arial"/>
              </a:defRPr>
            </a:lvl5pPr>
            <a:lvl6pPr algn="l">
              <a:defRPr sz="915">
                <a:solidFill>
                  <a:srgbClr val="334155"/>
                </a:solidFill>
                <a:latin typeface="Arial"/>
                <a:ea typeface="Arial"/>
                <a:cs typeface="Arial"/>
              </a:defRPr>
            </a:lvl6pPr>
            <a:lvl7pPr algn="l">
              <a:defRPr sz="915">
                <a:solidFill>
                  <a:srgbClr val="334155"/>
                </a:solidFill>
                <a:latin typeface="Arial"/>
                <a:ea typeface="Arial"/>
                <a:cs typeface="Arial"/>
              </a:defRPr>
            </a:lvl7pPr>
            <a:lvl8pPr algn="l">
              <a:defRPr sz="915">
                <a:solidFill>
                  <a:srgbClr val="334155"/>
                </a:solidFill>
                <a:latin typeface="Arial"/>
                <a:ea typeface="Arial"/>
                <a:cs typeface="Arial"/>
              </a:defRPr>
            </a:lvl8pPr>
            <a:lvl9pPr algn="l">
              <a:defRPr sz="915">
                <a:solidFill>
                  <a:srgbClr val="334155"/>
                </a:solidFill>
                <a:latin typeface="Arial"/>
                <a:ea typeface="Arial"/>
                <a:cs typeface="Arial"/>
              </a:defRPr>
            </a:lvl9pPr>
          </a:lstStyle>
          <a:p xmlns:a="http://schemas.openxmlformats.org/drawingml/2006/main">
            <a:pPr algn="l">
              <a:lnSpc>
                <a:spcPct val="98000"/>
              </a:lnSpc>
              <a:buNone/>
              <a:defRPr sz="915">
                <a:solidFill>
                  <a:srgbClr val="334155"/>
                </a:solidFill>
                <a:latin typeface="Arial"/>
                <a:ea typeface="Arial"/>
                <a:cs typeface="Arial"/>
              </a:defRPr>
            </a:pPr>
            <a:r>
              <a:rPr sz="915">
                <a:solidFill>
                  <a:srgbClr val="334155"/>
                </a:solidFill>
                <a:latin typeface="Arial"/>
                <a:ea typeface="Arial"/>
                <a:cs typeface="Arial"/>
              </a:rPr>
              <a:t>Close round; hire about 25 priority roles. AI recommendations enter beta.</a:t>
            </a:r>
          </a:p>
        </p:txBody>
      </p:sp>
      <p:sp>
        <p:nvSpPr>
          <p:cNvPr id="24" name="milestone-node-2">
            <a:extLst xmlns:a="http://schemas.openxmlformats.org/drawingml/2006/main">
              <a:ext uri="{FF2B5EF4-FFF2-40B4-BE49-F238E27FC236}">
                <a16:creationId xmlns:a16="http://schemas.microsoft.com/office/drawing/2014/main" id="{C8407A25-BB63-4763-92F7-3A27BEB7599B}"/>
              </a:ext>
            </a:extLst>
          </p:cNvPr>
          <p:cNvSpPr>
            <a:spLocks xmlns:a="http://schemas.openxmlformats.org/drawingml/2006/main" noGrp="1"/>
          </p:cNvSpPr>
          <p:nvPr/>
        </p:nvSpPr>
        <p:spPr>
          <a:xfrm xmlns:a="http://schemas.openxmlformats.org/drawingml/2006/main">
            <a:off x="6324600" y="3381375"/>
            <a:ext cx="133350" cy="133350"/>
          </a:xfrm>
          <a:prstGeom xmlns:a="http://schemas.openxmlformats.org/drawingml/2006/main" prst="ellipse">
            <a:avLst/>
          </a:prstGeom>
          <a:solidFill xmlns:a="http://schemas.openxmlformats.org/drawingml/2006/main">
            <a:srgbClr val="0D9488"/>
          </a:solidFill>
          <a:ln xmlns:a="http://schemas.openxmlformats.org/drawingml/2006/main" w="9525">
            <a:solidFill>
              <a:srgbClr val="0D9488"/>
            </a:solidFill>
            <a:prstDash val="solid"/>
          </a:ln>
        </p:spPr>
      </p:sp>
      <p:sp>
        <p:nvSpPr>
          <p:cNvPr id="25" name="milestone-period-2">
            <a:extLst xmlns:a="http://schemas.openxmlformats.org/drawingml/2006/main">
              <a:ext uri="{FF2B5EF4-FFF2-40B4-BE49-F238E27FC236}">
                <a16:creationId xmlns:a16="http://schemas.microsoft.com/office/drawing/2014/main" id="{12DAA149-D3C3-40E4-86DD-2A98FE7388A8}"/>
              </a:ext>
            </a:extLst>
          </p:cNvPr>
          <p:cNvSpPr>
            <a:spLocks xmlns:a="http://schemas.openxmlformats.org/drawingml/2006/main" noGrp="1"/>
          </p:cNvSpPr>
          <p:nvPr/>
        </p:nvSpPr>
        <p:spPr>
          <a:xfrm xmlns:a="http://schemas.openxmlformats.org/drawingml/2006/main">
            <a:off x="6600825" y="3305175"/>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98" b="1">
                <a:solidFill>
                  <a:srgbClr val="0F172A"/>
                </a:solidFill>
                <a:latin typeface="Arial"/>
                <a:ea typeface="Arial"/>
                <a:cs typeface="Arial"/>
              </a:defRPr>
            </a:defPPr>
            <a:lvl1pPr algn="l">
              <a:defRPr sz="998" b="1">
                <a:solidFill>
                  <a:srgbClr val="0F172A"/>
                </a:solidFill>
                <a:latin typeface="Arial"/>
                <a:ea typeface="Arial"/>
                <a:cs typeface="Arial"/>
              </a:defRPr>
            </a:lvl1pPr>
            <a:lvl2pPr algn="l">
              <a:defRPr sz="998" b="1">
                <a:solidFill>
                  <a:srgbClr val="0F172A"/>
                </a:solidFill>
                <a:latin typeface="Arial"/>
                <a:ea typeface="Arial"/>
                <a:cs typeface="Arial"/>
              </a:defRPr>
            </a:lvl2pPr>
            <a:lvl3pPr algn="l">
              <a:defRPr sz="998" b="1">
                <a:solidFill>
                  <a:srgbClr val="0F172A"/>
                </a:solidFill>
                <a:latin typeface="Arial"/>
                <a:ea typeface="Arial"/>
                <a:cs typeface="Arial"/>
              </a:defRPr>
            </a:lvl3pPr>
            <a:lvl4pPr algn="l">
              <a:defRPr sz="998" b="1">
                <a:solidFill>
                  <a:srgbClr val="0F172A"/>
                </a:solidFill>
                <a:latin typeface="Arial"/>
                <a:ea typeface="Arial"/>
                <a:cs typeface="Arial"/>
              </a:defRPr>
            </a:lvl4pPr>
            <a:lvl5pPr algn="l">
              <a:defRPr sz="998" b="1">
                <a:solidFill>
                  <a:srgbClr val="0F172A"/>
                </a:solidFill>
                <a:latin typeface="Arial"/>
                <a:ea typeface="Arial"/>
                <a:cs typeface="Arial"/>
              </a:defRPr>
            </a:lvl5pPr>
            <a:lvl6pPr algn="l">
              <a:defRPr sz="998" b="1">
                <a:solidFill>
                  <a:srgbClr val="0F172A"/>
                </a:solidFill>
                <a:latin typeface="Arial"/>
                <a:ea typeface="Arial"/>
                <a:cs typeface="Arial"/>
              </a:defRPr>
            </a:lvl6pPr>
            <a:lvl7pPr algn="l">
              <a:defRPr sz="998" b="1">
                <a:solidFill>
                  <a:srgbClr val="0F172A"/>
                </a:solidFill>
                <a:latin typeface="Arial"/>
                <a:ea typeface="Arial"/>
                <a:cs typeface="Arial"/>
              </a:defRPr>
            </a:lvl7pPr>
            <a:lvl8pPr algn="l">
              <a:defRPr sz="998" b="1">
                <a:solidFill>
                  <a:srgbClr val="0F172A"/>
                </a:solidFill>
                <a:latin typeface="Arial"/>
                <a:ea typeface="Arial"/>
                <a:cs typeface="Arial"/>
              </a:defRPr>
            </a:lvl8pPr>
            <a:lvl9pPr algn="l">
              <a:defRPr sz="998" b="1">
                <a:solidFill>
                  <a:srgbClr val="0F172A"/>
                </a:solidFill>
                <a:latin typeface="Arial"/>
                <a:ea typeface="Arial"/>
                <a:cs typeface="Arial"/>
              </a:defRPr>
            </a:lvl9pPr>
          </a:lstStyle>
          <a:p xmlns:a="http://schemas.openxmlformats.org/drawingml/2006/main">
            <a:pPr algn="l">
              <a:defRPr sz="998" b="1">
                <a:solidFill>
                  <a:srgbClr val="0F172A"/>
                </a:solidFill>
                <a:latin typeface="Arial"/>
                <a:ea typeface="Arial"/>
                <a:cs typeface="Arial"/>
              </a:defRPr>
            </a:pPr>
            <a:r>
              <a:rPr sz="998" b="1">
                <a:solidFill>
                  <a:srgbClr val="0F172A"/>
                </a:solidFill>
                <a:latin typeface="Arial"/>
                <a:ea typeface="Arial"/>
                <a:cs typeface="Arial"/>
              </a:rPr>
              <a:t>Months 6–12</a:t>
            </a:r>
          </a:p>
        </p:txBody>
      </p:sp>
      <p:sp>
        <p:nvSpPr>
          <p:cNvPr id="26" name="milestone-description-2">
            <a:extLst xmlns:a="http://schemas.openxmlformats.org/drawingml/2006/main">
              <a:ext uri="{FF2B5EF4-FFF2-40B4-BE49-F238E27FC236}">
                <a16:creationId xmlns:a16="http://schemas.microsoft.com/office/drawing/2014/main" id="{9208647F-3740-4ADA-9F6A-CD5506C5F7A6}"/>
              </a:ext>
            </a:extLst>
          </p:cNvPr>
          <p:cNvSpPr>
            <a:spLocks xmlns:a="http://schemas.openxmlformats.org/drawingml/2006/main" noGrp="1"/>
          </p:cNvSpPr>
          <p:nvPr/>
        </p:nvSpPr>
        <p:spPr>
          <a:xfrm xmlns:a="http://schemas.openxmlformats.org/drawingml/2006/main">
            <a:off x="7743825" y="3305175"/>
            <a:ext cx="3819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15">
                <a:solidFill>
                  <a:srgbClr val="334155"/>
                </a:solidFill>
                <a:latin typeface="Arial"/>
                <a:ea typeface="Arial"/>
                <a:cs typeface="Arial"/>
              </a:defRPr>
            </a:defPPr>
            <a:lvl1pPr algn="l">
              <a:defRPr sz="915">
                <a:solidFill>
                  <a:srgbClr val="334155"/>
                </a:solidFill>
                <a:latin typeface="Arial"/>
                <a:ea typeface="Arial"/>
                <a:cs typeface="Arial"/>
              </a:defRPr>
            </a:lvl1pPr>
            <a:lvl2pPr algn="l">
              <a:defRPr sz="915">
                <a:solidFill>
                  <a:srgbClr val="334155"/>
                </a:solidFill>
                <a:latin typeface="Arial"/>
                <a:ea typeface="Arial"/>
                <a:cs typeface="Arial"/>
              </a:defRPr>
            </a:lvl2pPr>
            <a:lvl3pPr algn="l">
              <a:defRPr sz="915">
                <a:solidFill>
                  <a:srgbClr val="334155"/>
                </a:solidFill>
                <a:latin typeface="Arial"/>
                <a:ea typeface="Arial"/>
                <a:cs typeface="Arial"/>
              </a:defRPr>
            </a:lvl3pPr>
            <a:lvl4pPr algn="l">
              <a:defRPr sz="915">
                <a:solidFill>
                  <a:srgbClr val="334155"/>
                </a:solidFill>
                <a:latin typeface="Arial"/>
                <a:ea typeface="Arial"/>
                <a:cs typeface="Arial"/>
              </a:defRPr>
            </a:lvl4pPr>
            <a:lvl5pPr algn="l">
              <a:defRPr sz="915">
                <a:solidFill>
                  <a:srgbClr val="334155"/>
                </a:solidFill>
                <a:latin typeface="Arial"/>
                <a:ea typeface="Arial"/>
                <a:cs typeface="Arial"/>
              </a:defRPr>
            </a:lvl5pPr>
            <a:lvl6pPr algn="l">
              <a:defRPr sz="915">
                <a:solidFill>
                  <a:srgbClr val="334155"/>
                </a:solidFill>
                <a:latin typeface="Arial"/>
                <a:ea typeface="Arial"/>
                <a:cs typeface="Arial"/>
              </a:defRPr>
            </a:lvl6pPr>
            <a:lvl7pPr algn="l">
              <a:defRPr sz="915">
                <a:solidFill>
                  <a:srgbClr val="334155"/>
                </a:solidFill>
                <a:latin typeface="Arial"/>
                <a:ea typeface="Arial"/>
                <a:cs typeface="Arial"/>
              </a:defRPr>
            </a:lvl7pPr>
            <a:lvl8pPr algn="l">
              <a:defRPr sz="915">
                <a:solidFill>
                  <a:srgbClr val="334155"/>
                </a:solidFill>
                <a:latin typeface="Arial"/>
                <a:ea typeface="Arial"/>
                <a:cs typeface="Arial"/>
              </a:defRPr>
            </a:lvl8pPr>
            <a:lvl9pPr algn="l">
              <a:defRPr sz="915">
                <a:solidFill>
                  <a:srgbClr val="334155"/>
                </a:solidFill>
                <a:latin typeface="Arial"/>
                <a:ea typeface="Arial"/>
                <a:cs typeface="Arial"/>
              </a:defRPr>
            </a:lvl9pPr>
          </a:lstStyle>
          <a:p xmlns:a="http://schemas.openxmlformats.org/drawingml/2006/main">
            <a:pPr algn="l">
              <a:lnSpc>
                <a:spcPct val="98000"/>
              </a:lnSpc>
              <a:buNone/>
              <a:defRPr sz="915">
                <a:solidFill>
                  <a:srgbClr val="334155"/>
                </a:solidFill>
                <a:latin typeface="Arial"/>
                <a:ea typeface="Arial"/>
                <a:cs typeface="Arial"/>
              </a:defRPr>
            </a:pPr>
            <a:r>
              <a:rPr sz="915">
                <a:solidFill>
                  <a:srgbClr val="334155"/>
                </a:solidFill>
                <a:latin typeface="Arial"/>
                <a:ea typeface="Arial"/>
                <a:cs typeface="Arial"/>
              </a:rPr>
              <a:t>Sales teams launch in Delhi, Bengaluru and Hyderabad. Target 210 customers and 234 employees by CY27 year end.*</a:t>
            </a:r>
          </a:p>
        </p:txBody>
      </p:sp>
      <p:sp>
        <p:nvSpPr>
          <p:cNvPr id="27" name="milestone-node-3">
            <a:extLst xmlns:a="http://schemas.openxmlformats.org/drawingml/2006/main">
              <a:ext uri="{FF2B5EF4-FFF2-40B4-BE49-F238E27FC236}">
                <a16:creationId xmlns:a16="http://schemas.microsoft.com/office/drawing/2014/main" id="{6C9E1A11-C324-4251-88D9-89993967BDA9}"/>
              </a:ext>
            </a:extLst>
          </p:cNvPr>
          <p:cNvSpPr>
            <a:spLocks xmlns:a="http://schemas.openxmlformats.org/drawingml/2006/main" noGrp="1"/>
          </p:cNvSpPr>
          <p:nvPr/>
        </p:nvSpPr>
        <p:spPr>
          <a:xfrm xmlns:a="http://schemas.openxmlformats.org/drawingml/2006/main">
            <a:off x="6324600" y="3790950"/>
            <a:ext cx="133350" cy="133350"/>
          </a:xfrm>
          <a:prstGeom xmlns:a="http://schemas.openxmlformats.org/drawingml/2006/main" prst="ellipse">
            <a:avLst/>
          </a:prstGeom>
          <a:solidFill xmlns:a="http://schemas.openxmlformats.org/drawingml/2006/main">
            <a:srgbClr val="0D9488"/>
          </a:solidFill>
          <a:ln xmlns:a="http://schemas.openxmlformats.org/drawingml/2006/main" w="9525">
            <a:solidFill>
              <a:srgbClr val="0D9488"/>
            </a:solidFill>
            <a:prstDash val="solid"/>
          </a:ln>
        </p:spPr>
      </p:sp>
      <p:sp>
        <p:nvSpPr>
          <p:cNvPr id="28" name="milestone-period-3">
            <a:extLst xmlns:a="http://schemas.openxmlformats.org/drawingml/2006/main">
              <a:ext uri="{FF2B5EF4-FFF2-40B4-BE49-F238E27FC236}">
                <a16:creationId xmlns:a16="http://schemas.microsoft.com/office/drawing/2014/main" id="{42861B91-2274-4CFE-92F3-7D23D531ED4F}"/>
              </a:ext>
            </a:extLst>
          </p:cNvPr>
          <p:cNvSpPr>
            <a:spLocks xmlns:a="http://schemas.openxmlformats.org/drawingml/2006/main" noGrp="1"/>
          </p:cNvSpPr>
          <p:nvPr/>
        </p:nvSpPr>
        <p:spPr>
          <a:xfrm xmlns:a="http://schemas.openxmlformats.org/drawingml/2006/main">
            <a:off x="6600825" y="37147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98" b="1">
                <a:solidFill>
                  <a:srgbClr val="0F172A"/>
                </a:solidFill>
                <a:latin typeface="Arial"/>
                <a:ea typeface="Arial"/>
                <a:cs typeface="Arial"/>
              </a:defRPr>
            </a:defPPr>
            <a:lvl1pPr algn="l">
              <a:defRPr sz="998" b="1">
                <a:solidFill>
                  <a:srgbClr val="0F172A"/>
                </a:solidFill>
                <a:latin typeface="Arial"/>
                <a:ea typeface="Arial"/>
                <a:cs typeface="Arial"/>
              </a:defRPr>
            </a:lvl1pPr>
            <a:lvl2pPr algn="l">
              <a:defRPr sz="998" b="1">
                <a:solidFill>
                  <a:srgbClr val="0F172A"/>
                </a:solidFill>
                <a:latin typeface="Arial"/>
                <a:ea typeface="Arial"/>
                <a:cs typeface="Arial"/>
              </a:defRPr>
            </a:lvl2pPr>
            <a:lvl3pPr algn="l">
              <a:defRPr sz="998" b="1">
                <a:solidFill>
                  <a:srgbClr val="0F172A"/>
                </a:solidFill>
                <a:latin typeface="Arial"/>
                <a:ea typeface="Arial"/>
                <a:cs typeface="Arial"/>
              </a:defRPr>
            </a:lvl3pPr>
            <a:lvl4pPr algn="l">
              <a:defRPr sz="998" b="1">
                <a:solidFill>
                  <a:srgbClr val="0F172A"/>
                </a:solidFill>
                <a:latin typeface="Arial"/>
                <a:ea typeface="Arial"/>
                <a:cs typeface="Arial"/>
              </a:defRPr>
            </a:lvl4pPr>
            <a:lvl5pPr algn="l">
              <a:defRPr sz="998" b="1">
                <a:solidFill>
                  <a:srgbClr val="0F172A"/>
                </a:solidFill>
                <a:latin typeface="Arial"/>
                <a:ea typeface="Arial"/>
                <a:cs typeface="Arial"/>
              </a:defRPr>
            </a:lvl5pPr>
            <a:lvl6pPr algn="l">
              <a:defRPr sz="998" b="1">
                <a:solidFill>
                  <a:srgbClr val="0F172A"/>
                </a:solidFill>
                <a:latin typeface="Arial"/>
                <a:ea typeface="Arial"/>
                <a:cs typeface="Arial"/>
              </a:defRPr>
            </a:lvl6pPr>
            <a:lvl7pPr algn="l">
              <a:defRPr sz="998" b="1">
                <a:solidFill>
                  <a:srgbClr val="0F172A"/>
                </a:solidFill>
                <a:latin typeface="Arial"/>
                <a:ea typeface="Arial"/>
                <a:cs typeface="Arial"/>
              </a:defRPr>
            </a:lvl7pPr>
            <a:lvl8pPr algn="l">
              <a:defRPr sz="998" b="1">
                <a:solidFill>
                  <a:srgbClr val="0F172A"/>
                </a:solidFill>
                <a:latin typeface="Arial"/>
                <a:ea typeface="Arial"/>
                <a:cs typeface="Arial"/>
              </a:defRPr>
            </a:lvl8pPr>
            <a:lvl9pPr algn="l">
              <a:defRPr sz="998" b="1">
                <a:solidFill>
                  <a:srgbClr val="0F172A"/>
                </a:solidFill>
                <a:latin typeface="Arial"/>
                <a:ea typeface="Arial"/>
                <a:cs typeface="Arial"/>
              </a:defRPr>
            </a:lvl9pPr>
          </a:lstStyle>
          <a:p xmlns:a="http://schemas.openxmlformats.org/drawingml/2006/main">
            <a:pPr algn="l">
              <a:defRPr sz="998" b="1">
                <a:solidFill>
                  <a:srgbClr val="0F172A"/>
                </a:solidFill>
                <a:latin typeface="Arial"/>
                <a:ea typeface="Arial"/>
                <a:cs typeface="Arial"/>
              </a:defRPr>
            </a:pPr>
            <a:r>
              <a:rPr sz="998" b="1">
                <a:solidFill>
                  <a:srgbClr val="0F172A"/>
                </a:solidFill>
                <a:latin typeface="Arial"/>
                <a:ea typeface="Arial"/>
                <a:cs typeface="Arial"/>
              </a:rPr>
              <a:t>Months 12–18</a:t>
            </a:r>
          </a:p>
        </p:txBody>
      </p:sp>
      <p:sp>
        <p:nvSpPr>
          <p:cNvPr id="29" name="milestone-description-3">
            <a:extLst xmlns:a="http://schemas.openxmlformats.org/drawingml/2006/main">
              <a:ext uri="{FF2B5EF4-FFF2-40B4-BE49-F238E27FC236}">
                <a16:creationId xmlns:a16="http://schemas.microsoft.com/office/drawing/2014/main" id="{26DE396E-9E97-4431-8468-75043285A310}"/>
              </a:ext>
            </a:extLst>
          </p:cNvPr>
          <p:cNvSpPr>
            <a:spLocks xmlns:a="http://schemas.openxmlformats.org/drawingml/2006/main" noGrp="1"/>
          </p:cNvSpPr>
          <p:nvPr/>
        </p:nvSpPr>
        <p:spPr>
          <a:xfrm xmlns:a="http://schemas.openxmlformats.org/drawingml/2006/main">
            <a:off x="7743825" y="3714750"/>
            <a:ext cx="3819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15">
                <a:solidFill>
                  <a:srgbClr val="334155"/>
                </a:solidFill>
                <a:latin typeface="Arial"/>
                <a:ea typeface="Arial"/>
                <a:cs typeface="Arial"/>
              </a:defRPr>
            </a:defPPr>
            <a:lvl1pPr algn="l">
              <a:defRPr sz="915">
                <a:solidFill>
                  <a:srgbClr val="334155"/>
                </a:solidFill>
                <a:latin typeface="Arial"/>
                <a:ea typeface="Arial"/>
                <a:cs typeface="Arial"/>
              </a:defRPr>
            </a:lvl1pPr>
            <a:lvl2pPr algn="l">
              <a:defRPr sz="915">
                <a:solidFill>
                  <a:srgbClr val="334155"/>
                </a:solidFill>
                <a:latin typeface="Arial"/>
                <a:ea typeface="Arial"/>
                <a:cs typeface="Arial"/>
              </a:defRPr>
            </a:lvl2pPr>
            <a:lvl3pPr algn="l">
              <a:defRPr sz="915">
                <a:solidFill>
                  <a:srgbClr val="334155"/>
                </a:solidFill>
                <a:latin typeface="Arial"/>
                <a:ea typeface="Arial"/>
                <a:cs typeface="Arial"/>
              </a:defRPr>
            </a:lvl3pPr>
            <a:lvl4pPr algn="l">
              <a:defRPr sz="915">
                <a:solidFill>
                  <a:srgbClr val="334155"/>
                </a:solidFill>
                <a:latin typeface="Arial"/>
                <a:ea typeface="Arial"/>
                <a:cs typeface="Arial"/>
              </a:defRPr>
            </a:lvl4pPr>
            <a:lvl5pPr algn="l">
              <a:defRPr sz="915">
                <a:solidFill>
                  <a:srgbClr val="334155"/>
                </a:solidFill>
                <a:latin typeface="Arial"/>
                <a:ea typeface="Arial"/>
                <a:cs typeface="Arial"/>
              </a:defRPr>
            </a:lvl5pPr>
            <a:lvl6pPr algn="l">
              <a:defRPr sz="915">
                <a:solidFill>
                  <a:srgbClr val="334155"/>
                </a:solidFill>
                <a:latin typeface="Arial"/>
                <a:ea typeface="Arial"/>
                <a:cs typeface="Arial"/>
              </a:defRPr>
            </a:lvl6pPr>
            <a:lvl7pPr algn="l">
              <a:defRPr sz="915">
                <a:solidFill>
                  <a:srgbClr val="334155"/>
                </a:solidFill>
                <a:latin typeface="Arial"/>
                <a:ea typeface="Arial"/>
                <a:cs typeface="Arial"/>
              </a:defRPr>
            </a:lvl7pPr>
            <a:lvl8pPr algn="l">
              <a:defRPr sz="915">
                <a:solidFill>
                  <a:srgbClr val="334155"/>
                </a:solidFill>
                <a:latin typeface="Arial"/>
                <a:ea typeface="Arial"/>
                <a:cs typeface="Arial"/>
              </a:defRPr>
            </a:lvl8pPr>
            <a:lvl9pPr algn="l">
              <a:defRPr sz="915">
                <a:solidFill>
                  <a:srgbClr val="334155"/>
                </a:solidFill>
                <a:latin typeface="Arial"/>
                <a:ea typeface="Arial"/>
                <a:cs typeface="Arial"/>
              </a:defRPr>
            </a:lvl9pPr>
          </a:lstStyle>
          <a:p xmlns:a="http://schemas.openxmlformats.org/drawingml/2006/main">
            <a:pPr algn="l">
              <a:lnSpc>
                <a:spcPct val="98000"/>
              </a:lnSpc>
              <a:buNone/>
              <a:defRPr sz="915">
                <a:solidFill>
                  <a:srgbClr val="334155"/>
                </a:solidFill>
                <a:latin typeface="Arial"/>
                <a:ea typeface="Arial"/>
                <a:cs typeface="Arial"/>
              </a:defRPr>
            </a:pPr>
            <a:r>
              <a:rPr sz="915">
                <a:solidFill>
                  <a:srgbClr val="334155"/>
                </a:solidFill>
                <a:latin typeface="Arial"/>
                <a:ea typeface="Arial"/>
                <a:cs typeface="Arial"/>
              </a:rPr>
              <a:t>Release predictive governance and FinOps automation; begin Middle East and Singapore pilots.</a:t>
            </a:r>
          </a:p>
        </p:txBody>
      </p:sp>
      <p:sp>
        <p:nvSpPr>
          <p:cNvPr id="30" name="milestone-node-4">
            <a:extLst xmlns:a="http://schemas.openxmlformats.org/drawingml/2006/main">
              <a:ext uri="{FF2B5EF4-FFF2-40B4-BE49-F238E27FC236}">
                <a16:creationId xmlns:a16="http://schemas.microsoft.com/office/drawing/2014/main" id="{7ADD7A5C-44B3-4FC7-8005-01E03D09F26A}"/>
              </a:ext>
            </a:extLst>
          </p:cNvPr>
          <p:cNvSpPr>
            <a:spLocks xmlns:a="http://schemas.openxmlformats.org/drawingml/2006/main" noGrp="1"/>
          </p:cNvSpPr>
          <p:nvPr/>
        </p:nvSpPr>
        <p:spPr>
          <a:xfrm xmlns:a="http://schemas.openxmlformats.org/drawingml/2006/main">
            <a:off x="6324600" y="4200525"/>
            <a:ext cx="133350" cy="133350"/>
          </a:xfrm>
          <a:prstGeom xmlns:a="http://schemas.openxmlformats.org/drawingml/2006/main" prst="ellipse">
            <a:avLst/>
          </a:prstGeom>
          <a:solidFill xmlns:a="http://schemas.openxmlformats.org/drawingml/2006/main">
            <a:srgbClr val="0D9488"/>
          </a:solidFill>
          <a:ln xmlns:a="http://schemas.openxmlformats.org/drawingml/2006/main" w="9525">
            <a:solidFill>
              <a:srgbClr val="0D9488"/>
            </a:solidFill>
            <a:prstDash val="solid"/>
          </a:ln>
        </p:spPr>
      </p:sp>
      <p:sp>
        <p:nvSpPr>
          <p:cNvPr id="31" name="milestone-period-4">
            <a:extLst xmlns:a="http://schemas.openxmlformats.org/drawingml/2006/main">
              <a:ext uri="{FF2B5EF4-FFF2-40B4-BE49-F238E27FC236}">
                <a16:creationId xmlns:a16="http://schemas.microsoft.com/office/drawing/2014/main" id="{E4CAEDD7-BFA0-44CE-8644-E2E95F8D6B6D}"/>
              </a:ext>
            </a:extLst>
          </p:cNvPr>
          <p:cNvSpPr>
            <a:spLocks xmlns:a="http://schemas.openxmlformats.org/drawingml/2006/main" noGrp="1"/>
          </p:cNvSpPr>
          <p:nvPr/>
        </p:nvSpPr>
        <p:spPr>
          <a:xfrm xmlns:a="http://schemas.openxmlformats.org/drawingml/2006/main">
            <a:off x="6600825" y="4124325"/>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98" b="1">
                <a:solidFill>
                  <a:srgbClr val="0F172A"/>
                </a:solidFill>
                <a:latin typeface="Arial"/>
                <a:ea typeface="Arial"/>
                <a:cs typeface="Arial"/>
              </a:defRPr>
            </a:defPPr>
            <a:lvl1pPr algn="l">
              <a:defRPr sz="998" b="1">
                <a:solidFill>
                  <a:srgbClr val="0F172A"/>
                </a:solidFill>
                <a:latin typeface="Arial"/>
                <a:ea typeface="Arial"/>
                <a:cs typeface="Arial"/>
              </a:defRPr>
            </a:lvl1pPr>
            <a:lvl2pPr algn="l">
              <a:defRPr sz="998" b="1">
                <a:solidFill>
                  <a:srgbClr val="0F172A"/>
                </a:solidFill>
                <a:latin typeface="Arial"/>
                <a:ea typeface="Arial"/>
                <a:cs typeface="Arial"/>
              </a:defRPr>
            </a:lvl2pPr>
            <a:lvl3pPr algn="l">
              <a:defRPr sz="998" b="1">
                <a:solidFill>
                  <a:srgbClr val="0F172A"/>
                </a:solidFill>
                <a:latin typeface="Arial"/>
                <a:ea typeface="Arial"/>
                <a:cs typeface="Arial"/>
              </a:defRPr>
            </a:lvl3pPr>
            <a:lvl4pPr algn="l">
              <a:defRPr sz="998" b="1">
                <a:solidFill>
                  <a:srgbClr val="0F172A"/>
                </a:solidFill>
                <a:latin typeface="Arial"/>
                <a:ea typeface="Arial"/>
                <a:cs typeface="Arial"/>
              </a:defRPr>
            </a:lvl4pPr>
            <a:lvl5pPr algn="l">
              <a:defRPr sz="998" b="1">
                <a:solidFill>
                  <a:srgbClr val="0F172A"/>
                </a:solidFill>
                <a:latin typeface="Arial"/>
                <a:ea typeface="Arial"/>
                <a:cs typeface="Arial"/>
              </a:defRPr>
            </a:lvl5pPr>
            <a:lvl6pPr algn="l">
              <a:defRPr sz="998" b="1">
                <a:solidFill>
                  <a:srgbClr val="0F172A"/>
                </a:solidFill>
                <a:latin typeface="Arial"/>
                <a:ea typeface="Arial"/>
                <a:cs typeface="Arial"/>
              </a:defRPr>
            </a:lvl6pPr>
            <a:lvl7pPr algn="l">
              <a:defRPr sz="998" b="1">
                <a:solidFill>
                  <a:srgbClr val="0F172A"/>
                </a:solidFill>
                <a:latin typeface="Arial"/>
                <a:ea typeface="Arial"/>
                <a:cs typeface="Arial"/>
              </a:defRPr>
            </a:lvl7pPr>
            <a:lvl8pPr algn="l">
              <a:defRPr sz="998" b="1">
                <a:solidFill>
                  <a:srgbClr val="0F172A"/>
                </a:solidFill>
                <a:latin typeface="Arial"/>
                <a:ea typeface="Arial"/>
                <a:cs typeface="Arial"/>
              </a:defRPr>
            </a:lvl8pPr>
            <a:lvl9pPr algn="l">
              <a:defRPr sz="998" b="1">
                <a:solidFill>
                  <a:srgbClr val="0F172A"/>
                </a:solidFill>
                <a:latin typeface="Arial"/>
                <a:ea typeface="Arial"/>
                <a:cs typeface="Arial"/>
              </a:defRPr>
            </a:lvl9pPr>
          </a:lstStyle>
          <a:p xmlns:a="http://schemas.openxmlformats.org/drawingml/2006/main">
            <a:pPr algn="l">
              <a:defRPr sz="998" b="1">
                <a:solidFill>
                  <a:srgbClr val="0F172A"/>
                </a:solidFill>
                <a:latin typeface="Arial"/>
                <a:ea typeface="Arial"/>
                <a:cs typeface="Arial"/>
              </a:defRPr>
            </a:pPr>
            <a:r>
              <a:rPr sz="998" b="1">
                <a:solidFill>
                  <a:srgbClr val="0F172A"/>
                </a:solidFill>
                <a:latin typeface="Arial"/>
                <a:ea typeface="Arial"/>
                <a:cs typeface="Arial"/>
              </a:rPr>
              <a:t>Months 18–24</a:t>
            </a:r>
          </a:p>
        </p:txBody>
      </p:sp>
      <p:sp>
        <p:nvSpPr>
          <p:cNvPr id="32" name="milestone-description-4">
            <a:extLst xmlns:a="http://schemas.openxmlformats.org/drawingml/2006/main">
              <a:ext uri="{FF2B5EF4-FFF2-40B4-BE49-F238E27FC236}">
                <a16:creationId xmlns:a16="http://schemas.microsoft.com/office/drawing/2014/main" id="{B44399B8-3A8F-4068-B01D-51AEA466F9C3}"/>
              </a:ext>
            </a:extLst>
          </p:cNvPr>
          <p:cNvSpPr>
            <a:spLocks xmlns:a="http://schemas.openxmlformats.org/drawingml/2006/main" noGrp="1"/>
          </p:cNvSpPr>
          <p:nvPr/>
        </p:nvSpPr>
        <p:spPr>
          <a:xfrm xmlns:a="http://schemas.openxmlformats.org/drawingml/2006/main">
            <a:off x="7743825" y="4124325"/>
            <a:ext cx="3819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15">
                <a:solidFill>
                  <a:srgbClr val="334155"/>
                </a:solidFill>
                <a:latin typeface="Arial"/>
                <a:ea typeface="Arial"/>
                <a:cs typeface="Arial"/>
              </a:defRPr>
            </a:defPPr>
            <a:lvl1pPr algn="l">
              <a:defRPr sz="915">
                <a:solidFill>
                  <a:srgbClr val="334155"/>
                </a:solidFill>
                <a:latin typeface="Arial"/>
                <a:ea typeface="Arial"/>
                <a:cs typeface="Arial"/>
              </a:defRPr>
            </a:lvl1pPr>
            <a:lvl2pPr algn="l">
              <a:defRPr sz="915">
                <a:solidFill>
                  <a:srgbClr val="334155"/>
                </a:solidFill>
                <a:latin typeface="Arial"/>
                <a:ea typeface="Arial"/>
                <a:cs typeface="Arial"/>
              </a:defRPr>
            </a:lvl2pPr>
            <a:lvl3pPr algn="l">
              <a:defRPr sz="915">
                <a:solidFill>
                  <a:srgbClr val="334155"/>
                </a:solidFill>
                <a:latin typeface="Arial"/>
                <a:ea typeface="Arial"/>
                <a:cs typeface="Arial"/>
              </a:defRPr>
            </a:lvl3pPr>
            <a:lvl4pPr algn="l">
              <a:defRPr sz="915">
                <a:solidFill>
                  <a:srgbClr val="334155"/>
                </a:solidFill>
                <a:latin typeface="Arial"/>
                <a:ea typeface="Arial"/>
                <a:cs typeface="Arial"/>
              </a:defRPr>
            </a:lvl4pPr>
            <a:lvl5pPr algn="l">
              <a:defRPr sz="915">
                <a:solidFill>
                  <a:srgbClr val="334155"/>
                </a:solidFill>
                <a:latin typeface="Arial"/>
                <a:ea typeface="Arial"/>
                <a:cs typeface="Arial"/>
              </a:defRPr>
            </a:lvl5pPr>
            <a:lvl6pPr algn="l">
              <a:defRPr sz="915">
                <a:solidFill>
                  <a:srgbClr val="334155"/>
                </a:solidFill>
                <a:latin typeface="Arial"/>
                <a:ea typeface="Arial"/>
                <a:cs typeface="Arial"/>
              </a:defRPr>
            </a:lvl6pPr>
            <a:lvl7pPr algn="l">
              <a:defRPr sz="915">
                <a:solidFill>
                  <a:srgbClr val="334155"/>
                </a:solidFill>
                <a:latin typeface="Arial"/>
                <a:ea typeface="Arial"/>
                <a:cs typeface="Arial"/>
              </a:defRPr>
            </a:lvl7pPr>
            <a:lvl8pPr algn="l">
              <a:defRPr sz="915">
                <a:solidFill>
                  <a:srgbClr val="334155"/>
                </a:solidFill>
                <a:latin typeface="Arial"/>
                <a:ea typeface="Arial"/>
                <a:cs typeface="Arial"/>
              </a:defRPr>
            </a:lvl8pPr>
            <a:lvl9pPr algn="l">
              <a:defRPr sz="915">
                <a:solidFill>
                  <a:srgbClr val="334155"/>
                </a:solidFill>
                <a:latin typeface="Arial"/>
                <a:ea typeface="Arial"/>
                <a:cs typeface="Arial"/>
              </a:defRPr>
            </a:lvl9pPr>
          </a:lstStyle>
          <a:p xmlns:a="http://schemas.openxmlformats.org/drawingml/2006/main">
            <a:pPr algn="l">
              <a:lnSpc>
                <a:spcPct val="98000"/>
              </a:lnSpc>
              <a:buNone/>
              <a:defRPr sz="915">
                <a:solidFill>
                  <a:srgbClr val="334155"/>
                </a:solidFill>
                <a:latin typeface="Arial"/>
                <a:ea typeface="Arial"/>
                <a:cs typeface="Arial"/>
              </a:defRPr>
            </a:pPr>
            <a:r>
              <a:rPr sz="915">
                <a:solidFill>
                  <a:srgbClr val="334155"/>
                </a:solidFill>
                <a:latin typeface="Arial"/>
                <a:ea typeface="Arial"/>
                <a:cs typeface="Arial"/>
              </a:rPr>
              <a:t>Target 55% Cordata revenue mix, 283 customers, 368 employees and 8% EBITDA margin.*</a:t>
            </a:r>
          </a:p>
        </p:txBody>
      </p:sp>
      <p:sp>
        <p:nvSpPr>
          <p:cNvPr id="33" name="takeaway-1">
            <a:extLst xmlns:a="http://schemas.openxmlformats.org/drawingml/2006/main">
              <a:ext uri="{FF2B5EF4-FFF2-40B4-BE49-F238E27FC236}">
                <a16:creationId xmlns:a16="http://schemas.microsoft.com/office/drawing/2014/main" id="{A7C14416-8D9C-4C11-A973-99F6982798C6}"/>
              </a:ext>
            </a:extLst>
          </p:cNvPr>
          <p:cNvSpPr>
            <a:spLocks xmlns:a="http://schemas.openxmlformats.org/drawingml/2006/main" noGrp="1"/>
          </p:cNvSpPr>
          <p:nvPr/>
        </p:nvSpPr>
        <p:spPr>
          <a:xfrm xmlns:a="http://schemas.openxmlformats.org/drawingml/2006/main">
            <a:off x="533400" y="47244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080">
                <a:solidFill>
                  <a:srgbClr val="334155"/>
                </a:solidFill>
                <a:latin typeface="Arial"/>
                <a:ea typeface="Arial"/>
                <a:cs typeface="Arial"/>
              </a:defRPr>
            </a:defPPr>
            <a:lvl1pPr>
              <a:defRPr sz="1080">
                <a:solidFill>
                  <a:srgbClr val="334155"/>
                </a:solidFill>
                <a:latin typeface="Arial"/>
                <a:ea typeface="Arial"/>
                <a:cs typeface="Arial"/>
              </a:defRPr>
            </a:lvl1pPr>
            <a:lvl2pPr>
              <a:defRPr sz="1080">
                <a:solidFill>
                  <a:srgbClr val="334155"/>
                </a:solidFill>
                <a:latin typeface="Arial"/>
                <a:ea typeface="Arial"/>
                <a:cs typeface="Arial"/>
              </a:defRPr>
            </a:lvl2pPr>
            <a:lvl3pPr>
              <a:defRPr sz="1080">
                <a:solidFill>
                  <a:srgbClr val="334155"/>
                </a:solidFill>
                <a:latin typeface="Arial"/>
                <a:ea typeface="Arial"/>
                <a:cs typeface="Arial"/>
              </a:defRPr>
            </a:lvl3pPr>
            <a:lvl4pPr>
              <a:defRPr sz="1080">
                <a:solidFill>
                  <a:srgbClr val="334155"/>
                </a:solidFill>
                <a:latin typeface="Arial"/>
                <a:ea typeface="Arial"/>
                <a:cs typeface="Arial"/>
              </a:defRPr>
            </a:lvl4pPr>
            <a:lvl5pPr>
              <a:defRPr sz="1080">
                <a:solidFill>
                  <a:srgbClr val="334155"/>
                </a:solidFill>
                <a:latin typeface="Arial"/>
                <a:ea typeface="Arial"/>
                <a:cs typeface="Arial"/>
              </a:defRPr>
            </a:lvl5pPr>
            <a:lvl6pPr>
              <a:defRPr sz="1080">
                <a:solidFill>
                  <a:srgbClr val="334155"/>
                </a:solidFill>
                <a:latin typeface="Arial"/>
                <a:ea typeface="Arial"/>
                <a:cs typeface="Arial"/>
              </a:defRPr>
            </a:lvl6pPr>
            <a:lvl7pPr>
              <a:defRPr sz="1080">
                <a:solidFill>
                  <a:srgbClr val="334155"/>
                </a:solidFill>
                <a:latin typeface="Arial"/>
                <a:ea typeface="Arial"/>
                <a:cs typeface="Arial"/>
              </a:defRPr>
            </a:lvl7pPr>
            <a:lvl8pPr>
              <a:defRPr sz="1080">
                <a:solidFill>
                  <a:srgbClr val="334155"/>
                </a:solidFill>
                <a:latin typeface="Arial"/>
                <a:ea typeface="Arial"/>
                <a:cs typeface="Arial"/>
              </a:defRPr>
            </a:lvl8pPr>
            <a:lvl9pPr>
              <a:defRPr sz="108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080">
                <a:solidFill>
                  <a:srgbClr val="334155"/>
                </a:solidFill>
                <a:latin typeface="Arial"/>
                <a:ea typeface="Arial"/>
                <a:cs typeface="Arial"/>
              </a:defRPr>
            </a:pPr>
            <a:r>
              <a:rPr sz="1080">
                <a:solidFill>
                  <a:srgbClr val="334155"/>
                </a:solidFill>
                <a:latin typeface="Arial"/>
                <a:ea typeface="Arial"/>
                <a:cs typeface="Arial"/>
              </a:rPr>
              <a:t>The round funds 24 months of planned expansion: ₹10 Cr product, ₹7.5 Cr sales, ₹5 Cr customer success and ₹2.5 Cr working capital.</a:t>
            </a:r>
          </a:p>
        </p:txBody>
      </p:sp>
      <p:sp>
        <p:nvSpPr>
          <p:cNvPr id="34" name="takeaway-2">
            <a:extLst xmlns:a="http://schemas.openxmlformats.org/drawingml/2006/main">
              <a:ext uri="{FF2B5EF4-FFF2-40B4-BE49-F238E27FC236}">
                <a16:creationId xmlns:a16="http://schemas.microsoft.com/office/drawing/2014/main" id="{9F7E4E6B-F95A-4D6F-BA4C-70B34155C2C7}"/>
              </a:ext>
            </a:extLst>
          </p:cNvPr>
          <p:cNvSpPr>
            <a:spLocks xmlns:a="http://schemas.openxmlformats.org/drawingml/2006/main" noGrp="1"/>
          </p:cNvSpPr>
          <p:nvPr/>
        </p:nvSpPr>
        <p:spPr>
          <a:xfrm xmlns:a="http://schemas.openxmlformats.org/drawingml/2006/main">
            <a:off x="4314825" y="47244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080">
                <a:solidFill>
                  <a:srgbClr val="334155"/>
                </a:solidFill>
                <a:latin typeface="Arial"/>
                <a:ea typeface="Arial"/>
                <a:cs typeface="Arial"/>
              </a:defRPr>
            </a:defPPr>
            <a:lvl1pPr>
              <a:defRPr sz="1080">
                <a:solidFill>
                  <a:srgbClr val="334155"/>
                </a:solidFill>
                <a:latin typeface="Arial"/>
                <a:ea typeface="Arial"/>
                <a:cs typeface="Arial"/>
              </a:defRPr>
            </a:lvl1pPr>
            <a:lvl2pPr>
              <a:defRPr sz="1080">
                <a:solidFill>
                  <a:srgbClr val="334155"/>
                </a:solidFill>
                <a:latin typeface="Arial"/>
                <a:ea typeface="Arial"/>
                <a:cs typeface="Arial"/>
              </a:defRPr>
            </a:lvl2pPr>
            <a:lvl3pPr>
              <a:defRPr sz="1080">
                <a:solidFill>
                  <a:srgbClr val="334155"/>
                </a:solidFill>
                <a:latin typeface="Arial"/>
                <a:ea typeface="Arial"/>
                <a:cs typeface="Arial"/>
              </a:defRPr>
            </a:lvl3pPr>
            <a:lvl4pPr>
              <a:defRPr sz="1080">
                <a:solidFill>
                  <a:srgbClr val="334155"/>
                </a:solidFill>
                <a:latin typeface="Arial"/>
                <a:ea typeface="Arial"/>
                <a:cs typeface="Arial"/>
              </a:defRPr>
            </a:lvl4pPr>
            <a:lvl5pPr>
              <a:defRPr sz="1080">
                <a:solidFill>
                  <a:srgbClr val="334155"/>
                </a:solidFill>
                <a:latin typeface="Arial"/>
                <a:ea typeface="Arial"/>
                <a:cs typeface="Arial"/>
              </a:defRPr>
            </a:lvl5pPr>
            <a:lvl6pPr>
              <a:defRPr sz="1080">
                <a:solidFill>
                  <a:srgbClr val="334155"/>
                </a:solidFill>
                <a:latin typeface="Arial"/>
                <a:ea typeface="Arial"/>
                <a:cs typeface="Arial"/>
              </a:defRPr>
            </a:lvl6pPr>
            <a:lvl7pPr>
              <a:defRPr sz="1080">
                <a:solidFill>
                  <a:srgbClr val="334155"/>
                </a:solidFill>
                <a:latin typeface="Arial"/>
                <a:ea typeface="Arial"/>
                <a:cs typeface="Arial"/>
              </a:defRPr>
            </a:lvl7pPr>
            <a:lvl8pPr>
              <a:defRPr sz="1080">
                <a:solidFill>
                  <a:srgbClr val="334155"/>
                </a:solidFill>
                <a:latin typeface="Arial"/>
                <a:ea typeface="Arial"/>
                <a:cs typeface="Arial"/>
              </a:defRPr>
            </a:lvl8pPr>
            <a:lvl9pPr>
              <a:defRPr sz="108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080">
                <a:solidFill>
                  <a:srgbClr val="334155"/>
                </a:solidFill>
                <a:latin typeface="Arial"/>
                <a:ea typeface="Arial"/>
                <a:cs typeface="Arial"/>
              </a:defRPr>
            </a:pPr>
            <a:r>
              <a:rPr sz="1080">
                <a:solidFill>
                  <a:srgbClr val="334155"/>
                </a:solidFill>
                <a:latin typeface="Arial"/>
                <a:ea typeface="Arial"/>
                <a:cs typeface="Arial"/>
              </a:rPr>
              <a:t>The assumed EBITDA margin dips to 1% in CY27E during expansion, then reaches 8% in CY28E. Hiring and sales execution drive this forecast.</a:t>
            </a:r>
          </a:p>
        </p:txBody>
      </p:sp>
      <p:sp>
        <p:nvSpPr>
          <p:cNvPr id="35" name="takeaway-divider-1">
            <a:extLst xmlns:a="http://schemas.openxmlformats.org/drawingml/2006/main">
              <a:ext uri="{FF2B5EF4-FFF2-40B4-BE49-F238E27FC236}">
                <a16:creationId xmlns:a16="http://schemas.microsoft.com/office/drawing/2014/main" id="{C56761C5-5FA1-477C-896B-8F7026EF90A6}"/>
              </a:ext>
            </a:extLst>
          </p:cNvPr>
          <p:cNvSpPr>
            <a:spLocks xmlns:a="http://schemas.openxmlformats.org/drawingml/2006/main" noGrp="1"/>
          </p:cNvSpPr>
          <p:nvPr/>
        </p:nvSpPr>
        <p:spPr>
          <a:xfrm xmlns:a="http://schemas.openxmlformats.org/drawingml/2006/main">
            <a:off x="4200525" y="473392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36" name="takeaway-3">
            <a:extLst xmlns:a="http://schemas.openxmlformats.org/drawingml/2006/main">
              <a:ext uri="{FF2B5EF4-FFF2-40B4-BE49-F238E27FC236}">
                <a16:creationId xmlns:a16="http://schemas.microsoft.com/office/drawing/2014/main" id="{5A54F9CA-B393-45DA-AB53-C42FC8B99813}"/>
              </a:ext>
            </a:extLst>
          </p:cNvPr>
          <p:cNvSpPr>
            <a:spLocks xmlns:a="http://schemas.openxmlformats.org/drawingml/2006/main" noGrp="1"/>
          </p:cNvSpPr>
          <p:nvPr/>
        </p:nvSpPr>
        <p:spPr>
          <a:xfrm xmlns:a="http://schemas.openxmlformats.org/drawingml/2006/main">
            <a:off x="8096250" y="4724400"/>
            <a:ext cx="35528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080">
                <a:solidFill>
                  <a:srgbClr val="334155"/>
                </a:solidFill>
                <a:latin typeface="Arial"/>
                <a:ea typeface="Arial"/>
                <a:cs typeface="Arial"/>
              </a:defRPr>
            </a:defPPr>
            <a:lvl1pPr>
              <a:defRPr sz="1080">
                <a:solidFill>
                  <a:srgbClr val="334155"/>
                </a:solidFill>
                <a:latin typeface="Arial"/>
                <a:ea typeface="Arial"/>
                <a:cs typeface="Arial"/>
              </a:defRPr>
            </a:lvl1pPr>
            <a:lvl2pPr>
              <a:defRPr sz="1080">
                <a:solidFill>
                  <a:srgbClr val="334155"/>
                </a:solidFill>
                <a:latin typeface="Arial"/>
                <a:ea typeface="Arial"/>
                <a:cs typeface="Arial"/>
              </a:defRPr>
            </a:lvl2pPr>
            <a:lvl3pPr>
              <a:defRPr sz="1080">
                <a:solidFill>
                  <a:srgbClr val="334155"/>
                </a:solidFill>
                <a:latin typeface="Arial"/>
                <a:ea typeface="Arial"/>
                <a:cs typeface="Arial"/>
              </a:defRPr>
            </a:lvl3pPr>
            <a:lvl4pPr>
              <a:defRPr sz="1080">
                <a:solidFill>
                  <a:srgbClr val="334155"/>
                </a:solidFill>
                <a:latin typeface="Arial"/>
                <a:ea typeface="Arial"/>
                <a:cs typeface="Arial"/>
              </a:defRPr>
            </a:lvl4pPr>
            <a:lvl5pPr>
              <a:defRPr sz="1080">
                <a:solidFill>
                  <a:srgbClr val="334155"/>
                </a:solidFill>
                <a:latin typeface="Arial"/>
                <a:ea typeface="Arial"/>
                <a:cs typeface="Arial"/>
              </a:defRPr>
            </a:lvl5pPr>
            <a:lvl6pPr>
              <a:defRPr sz="1080">
                <a:solidFill>
                  <a:srgbClr val="334155"/>
                </a:solidFill>
                <a:latin typeface="Arial"/>
                <a:ea typeface="Arial"/>
                <a:cs typeface="Arial"/>
              </a:defRPr>
            </a:lvl6pPr>
            <a:lvl7pPr>
              <a:defRPr sz="1080">
                <a:solidFill>
                  <a:srgbClr val="334155"/>
                </a:solidFill>
                <a:latin typeface="Arial"/>
                <a:ea typeface="Arial"/>
                <a:cs typeface="Arial"/>
              </a:defRPr>
            </a:lvl7pPr>
            <a:lvl8pPr>
              <a:defRPr sz="1080">
                <a:solidFill>
                  <a:srgbClr val="334155"/>
                </a:solidFill>
                <a:latin typeface="Arial"/>
                <a:ea typeface="Arial"/>
                <a:cs typeface="Arial"/>
              </a:defRPr>
            </a:lvl8pPr>
            <a:lvl9pPr>
              <a:defRPr sz="1080">
                <a:solidFill>
                  <a:srgbClr val="334155"/>
                </a:solidFill>
                <a:latin typeface="Arial"/>
                <a:ea typeface="Arial"/>
                <a:cs typeface="Arial"/>
              </a:defRPr>
            </a:lvl9pPr>
          </a:lstStyle>
          <a:p xmlns:a="http://schemas.openxmlformats.org/drawingml/2006/main">
            <a:pPr marL="228600" indent="-114300">
              <a:lnSpc>
                <a:spcPct val="108000"/>
              </a:lnSpc>
              <a:spcAft>
                <a:spcPts val="0"/>
              </a:spcAft>
              <a:buNone/>
              <a:defRPr sz="1080">
                <a:solidFill>
                  <a:srgbClr val="334155"/>
                </a:solidFill>
                <a:latin typeface="Arial"/>
                <a:ea typeface="Arial"/>
                <a:cs typeface="Arial"/>
              </a:defRPr>
            </a:pPr>
            <a:r>
              <a:rPr sz="1080">
                <a:solidFill>
                  <a:srgbClr val="334155"/>
                </a:solidFill>
                <a:latin typeface="Arial"/>
                <a:ea typeface="Arial"/>
                <a:cs typeface="Arial"/>
              </a:rPr>
              <a:t>At 110 days to collect, ₹8 Cr of CY28E PSU revenue ties up about ₹2.4 Cr in receivables. The model allocates ₹2.5 Cr for working capital.*</a:t>
            </a:r>
          </a:p>
        </p:txBody>
      </p:sp>
      <p:sp>
        <p:nvSpPr>
          <p:cNvPr id="37" name="takeaway-divider-2">
            <a:extLst xmlns:a="http://schemas.openxmlformats.org/drawingml/2006/main">
              <a:ext uri="{FF2B5EF4-FFF2-40B4-BE49-F238E27FC236}">
                <a16:creationId xmlns:a16="http://schemas.microsoft.com/office/drawing/2014/main" id="{A5B0358C-5693-4EBF-9037-616B56926421}"/>
              </a:ext>
            </a:extLst>
          </p:cNvPr>
          <p:cNvSpPr>
            <a:spLocks xmlns:a="http://schemas.openxmlformats.org/drawingml/2006/main" noGrp="1"/>
          </p:cNvSpPr>
          <p:nvPr/>
        </p:nvSpPr>
        <p:spPr>
          <a:xfrm xmlns:a="http://schemas.openxmlformats.org/drawingml/2006/main">
            <a:off x="7981950" y="4733925"/>
            <a:ext cx="0" cy="13335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38" name="fundraise-assumption-note">
            <a:extLst xmlns:a="http://schemas.openxmlformats.org/drawingml/2006/main">
              <a:ext uri="{FF2B5EF4-FFF2-40B4-BE49-F238E27FC236}">
                <a16:creationId xmlns:a16="http://schemas.microsoft.com/office/drawing/2014/main" id="{2CFB8C03-A227-432F-BCB4-F1360F2AC4F3}"/>
              </a:ext>
            </a:extLst>
          </p:cNvPr>
          <p:cNvSpPr>
            <a:spLocks xmlns:a="http://schemas.openxmlformats.org/drawingml/2006/main" noGrp="1"/>
          </p:cNvSpPr>
          <p:nvPr/>
        </p:nvSpPr>
        <p:spPr>
          <a:xfrm xmlns:a="http://schemas.openxmlformats.org/drawingml/2006/main">
            <a:off x="533400" y="6257925"/>
            <a:ext cx="11125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788">
                <a:solidFill>
                  <a:srgbClr val="94A3B8"/>
                </a:solidFill>
                <a:latin typeface="Arial"/>
                <a:ea typeface="Arial"/>
                <a:cs typeface="Arial"/>
              </a:defRPr>
            </a:defPPr>
            <a:lvl1pPr algn="l">
              <a:defRPr sz="788">
                <a:solidFill>
                  <a:srgbClr val="94A3B8"/>
                </a:solidFill>
                <a:latin typeface="Arial"/>
                <a:ea typeface="Arial"/>
                <a:cs typeface="Arial"/>
              </a:defRPr>
            </a:lvl1pPr>
            <a:lvl2pPr algn="l">
              <a:defRPr sz="788">
                <a:solidFill>
                  <a:srgbClr val="94A3B8"/>
                </a:solidFill>
                <a:latin typeface="Arial"/>
                <a:ea typeface="Arial"/>
                <a:cs typeface="Arial"/>
              </a:defRPr>
            </a:lvl2pPr>
            <a:lvl3pPr algn="l">
              <a:defRPr sz="788">
                <a:solidFill>
                  <a:srgbClr val="94A3B8"/>
                </a:solidFill>
                <a:latin typeface="Arial"/>
                <a:ea typeface="Arial"/>
                <a:cs typeface="Arial"/>
              </a:defRPr>
            </a:lvl3pPr>
            <a:lvl4pPr algn="l">
              <a:defRPr sz="788">
                <a:solidFill>
                  <a:srgbClr val="94A3B8"/>
                </a:solidFill>
                <a:latin typeface="Arial"/>
                <a:ea typeface="Arial"/>
                <a:cs typeface="Arial"/>
              </a:defRPr>
            </a:lvl4pPr>
            <a:lvl5pPr algn="l">
              <a:defRPr sz="788">
                <a:solidFill>
                  <a:srgbClr val="94A3B8"/>
                </a:solidFill>
                <a:latin typeface="Arial"/>
                <a:ea typeface="Arial"/>
                <a:cs typeface="Arial"/>
              </a:defRPr>
            </a:lvl5pPr>
            <a:lvl6pPr algn="l">
              <a:defRPr sz="788">
                <a:solidFill>
                  <a:srgbClr val="94A3B8"/>
                </a:solidFill>
                <a:latin typeface="Arial"/>
                <a:ea typeface="Arial"/>
                <a:cs typeface="Arial"/>
              </a:defRPr>
            </a:lvl6pPr>
            <a:lvl7pPr algn="l">
              <a:defRPr sz="788">
                <a:solidFill>
                  <a:srgbClr val="94A3B8"/>
                </a:solidFill>
                <a:latin typeface="Arial"/>
                <a:ea typeface="Arial"/>
                <a:cs typeface="Arial"/>
              </a:defRPr>
            </a:lvl7pPr>
            <a:lvl8pPr algn="l">
              <a:defRPr sz="788">
                <a:solidFill>
                  <a:srgbClr val="94A3B8"/>
                </a:solidFill>
                <a:latin typeface="Arial"/>
                <a:ea typeface="Arial"/>
                <a:cs typeface="Arial"/>
              </a:defRPr>
            </a:lvl8pPr>
            <a:lvl9pPr algn="l">
              <a:defRPr sz="788">
                <a:solidFill>
                  <a:srgbClr val="94A3B8"/>
                </a:solidFill>
                <a:latin typeface="Arial"/>
                <a:ea typeface="Arial"/>
                <a:cs typeface="Arial"/>
              </a:defRPr>
            </a:lvl9pPr>
          </a:lstStyle>
          <a:p xmlns:a="http://schemas.openxmlformats.org/drawingml/2006/main">
            <a:pPr algn="l">
              <a:defRPr sz="788">
                <a:solidFill>
                  <a:srgbClr val="94A3B8"/>
                </a:solidFill>
                <a:latin typeface="Arial"/>
                <a:ea typeface="Arial"/>
                <a:cs typeface="Arial"/>
              </a:defRPr>
            </a:pPr>
            <a:r>
              <a:rPr sz="788">
                <a:solidFill>
                  <a:srgbClr val="94A3B8"/>
                </a:solidFill>
                <a:latin typeface="Arial"/>
                <a:ea typeface="Arial"/>
                <a:cs typeface="Arial"/>
              </a:rPr>
              <a:t>* Forecasts, runway, collection timing and milestones are illustrative classroom assumptions. The ₹31 Cr CY27E target new-business revenue implies ₹93 Cr qualified pipeline at 3× coverage.</a:t>
            </a:r>
          </a:p>
        </p:txBody>
      </p:sp>
    </p:spTree>
    <p:extLst>
      <p:ext uri="{BB962C8B-B14F-4D97-AF65-F5344CB8AC3E}">
        <p14:creationId xmlns:p14="http://schemas.microsoft.com/office/powerpoint/2010/main" val="6216107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2026-10-29T21:12:52.4450000Z</dcterms:created>
  <dcterms:modified xsi:type="dcterms:W3CDTF">2026-10-29T21:12:52.4460000Z</dcterms:modified>
</coreProperties>
</file>